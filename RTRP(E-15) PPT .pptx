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5" r:id="rId9"/>
    <p:sldId id="266" r:id="rId10"/>
    <p:sldId id="267" r:id="rId11"/>
    <p:sldId id="268" r:id="rId12"/>
    <p:sldId id="269" r:id="rId13"/>
    <p:sldId id="270" r:id="rId14"/>
    <p:sldId id="275" r:id="rId15"/>
    <p:sldId id="281" r:id="rId16"/>
    <p:sldId id="276" r:id="rId17"/>
    <p:sldId id="277" r:id="rId18"/>
    <p:sldId id="278" r:id="rId19"/>
    <p:sldId id="271" r:id="rId20"/>
    <p:sldId id="280" r:id="rId21"/>
    <p:sldId id="274" r:id="rId22"/>
    <p:sldId id="279" r:id="rId23"/>
    <p:sldId id="27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33" autoAdjust="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6T13:43:44.501"/>
    </inkml:context>
    <inkml:brush xml:id="br0">
      <inkml:brushProperty name="width" value="0.05" units="cm"/>
      <inkml:brushProperty name="height" value="0.3" units="cm"/>
      <inkml:brushProperty name="color" value="#849398"/>
      <inkml:brushProperty name="ignorePressure" value="1"/>
      <inkml:brushProperty name="inkEffects" value="pencil"/>
    </inkml:brush>
  </inkml:definitions>
  <inkml:trace contextRef="#ctx0" brushRef="#br0">0 70,'0'4,"5"2,1 4,4 0,0 3,4-1,-2 2,2-1,-1 2,1-3,-1 2,1-1,-2 1,2-2,-2 2,-3 2,2-1,-1 1,2-2,3-3,-1 0,2-1,-2 3,1-3,-2 3,1-1,3-3,-1 2,0-1,7-3,3-2,3-2,0-1,-5-6,-6-7,-2-5,0-5,3-3,2-2,1-5,-2-2,-5 1,-5 0,1 7,2 6,-1 4,2-2,4 4,-3-2,-3-2,1 2,-2-1,2 2,-2-1,2 2,-1 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6T13:43:49.171"/>
    </inkml:context>
    <inkml:brush xml:id="br0">
      <inkml:brushProperty name="width" value="0.05" units="cm"/>
      <inkml:brushProperty name="height" value="0.3" units="cm"/>
      <inkml:brushProperty name="color" value="#849398"/>
      <inkml:brushProperty name="ignorePressure" value="1"/>
      <inkml:brushProperty name="inkEffects" value="pencil"/>
    </inkml:brush>
  </inkml:definitions>
  <inkml:trace contextRef="#ctx0" brushRef="#br0">0 187,'0'4,"0"7,5 0,1 3,0 4,3-1,4-4,1 0,-3 4,5 1,6 4,2 1,2 2,1 1,-4 0,2 1,-2-1,-1-4,0-6,-4-1,0-4,-3 2,0-3,2-2,2-2,3-8,1-7,-2-6,-5-5,-6-4,1 2,-2 1,-3-1,-2-1,3-1,-1 0,4-1,5 3,-1 2,2 0,-2-2,-3-1,1 3,-2 1,-2-1,-3-1,3 2,-1 1,-1-6,3 1,-1 1,4 3,3 6,-1 0,-2-2,-3 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6T13:44:02.921"/>
    </inkml:context>
    <inkml:brush xml:id="br0">
      <inkml:brushProperty name="width" value="0.05" units="cm"/>
      <inkml:brushProperty name="height" value="0.3" units="cm"/>
      <inkml:brushProperty name="color" value="#849398"/>
      <inkml:brushProperty name="ignorePressure" value="1"/>
      <inkml:brushProperty name="inkEffects" value="pencil"/>
    </inkml:brush>
  </inkml:definitions>
  <inkml:trace contextRef="#ctx0" brushRef="#br0">1 0,'0'5,"4"1,2 3,0 6,-2 8,4 1,-1 0,4 1,0 1,7-5,-1-1,3-4,-3 0,1-4,-4 2,1-2,-2 1,1-1,-2 1,1-1,3 2,4-2,2-3,-3-7,1-8,-4-9,-4-4,-5-5,2-2,-2-2,-1 1,-2 0,-2-1,-1 1,0 1,-1 0,4 4,5 7,2 0,-1 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6T13:44:06.650"/>
    </inkml:context>
    <inkml:brush xml:id="br0">
      <inkml:brushProperty name="width" value="0.05" units="cm"/>
      <inkml:brushProperty name="height" value="0.3" units="cm"/>
      <inkml:brushProperty name="color" value="#849398"/>
      <inkml:brushProperty name="ignorePressure" value="1"/>
      <inkml:brushProperty name="inkEffects" value="pencil"/>
    </inkml:brush>
  </inkml:definitions>
  <inkml:trace contextRef="#ctx0" brushRef="#br0">0 105,'5'0,"5"0,1 4,4 2,3 4,-2 5,2 4,1 3,3-2,-3 1,-5 0,0-3,2-1,-2 2,1-2,3-5,-2 5,1 0,-3 1,1-3,2-3,-2 0,2-2,1-2,7-8,4-11,1-14,-5-11,-2-4,0-8,-5-1,-4 4,-6 6,-4 4,-2 3,-2 4,0 2,-1 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6T13:44:09.292"/>
    </inkml:context>
    <inkml:brush xml:id="br0">
      <inkml:brushProperty name="width" value="0.05" units="cm"/>
      <inkml:brushProperty name="height" value="0.3" units="cm"/>
      <inkml:brushProperty name="color" value="#849398"/>
      <inkml:brushProperty name="ignorePressure" value="1"/>
      <inkml:brushProperty name="inkEffects" value="pencil"/>
    </inkml:brush>
  </inkml:definitions>
  <inkml:trace contextRef="#ctx0" brushRef="#br0">1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6T13:44:59.979"/>
    </inkml:context>
    <inkml:brush xml:id="br0">
      <inkml:brushProperty name="width" value="0.05" units="cm"/>
      <inkml:brushProperty name="height" value="0.3" units="cm"/>
      <inkml:brushProperty name="color" value="#849398"/>
      <inkml:brushProperty name="ignorePressure" value="1"/>
      <inkml:brushProperty name="inkEffects" value="pencil"/>
    </inkml:brush>
  </inkml:definitions>
  <inkml:trace contextRef="#ctx0" brushRef="#br0">0 1,'0'0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F9406-294F-9990-7B56-73937251D3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ABFD6A5-6E5F-6F51-6DD0-2BA8A99CBB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140B175-2D7B-DE1F-D903-94F592116DED}"/>
              </a:ext>
            </a:extLst>
          </p:cNvPr>
          <p:cNvSpPr>
            <a:spLocks noGrp="1"/>
          </p:cNvSpPr>
          <p:nvPr>
            <p:ph type="dt" sz="half" idx="10"/>
          </p:nvPr>
        </p:nvSpPr>
        <p:spPr/>
        <p:txBody>
          <a:bodyPr/>
          <a:lstStyle/>
          <a:p>
            <a:fld id="{89D2D556-DA16-4A8A-BBBF-87201DE59F20}" type="datetimeFigureOut">
              <a:rPr lang="en-IN" smtClean="0"/>
              <a:t>28-03-2026</a:t>
            </a:fld>
            <a:endParaRPr lang="en-IN"/>
          </a:p>
        </p:txBody>
      </p:sp>
      <p:sp>
        <p:nvSpPr>
          <p:cNvPr id="5" name="Footer Placeholder 4">
            <a:extLst>
              <a:ext uri="{FF2B5EF4-FFF2-40B4-BE49-F238E27FC236}">
                <a16:creationId xmlns:a16="http://schemas.microsoft.com/office/drawing/2014/main" id="{65C380B5-900E-B0CF-CCD1-4484B6D50F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5C5422-AC9E-4C97-FA3A-3D1FE301BE06}"/>
              </a:ext>
            </a:extLst>
          </p:cNvPr>
          <p:cNvSpPr>
            <a:spLocks noGrp="1"/>
          </p:cNvSpPr>
          <p:nvPr>
            <p:ph type="sldNum" sz="quarter" idx="12"/>
          </p:nvPr>
        </p:nvSpPr>
        <p:spPr/>
        <p:txBody>
          <a:bodyPr/>
          <a:lstStyle/>
          <a:p>
            <a:fld id="{DDA18CBC-B950-4A72-9EE0-12179E490BE4}" type="slidenum">
              <a:rPr lang="en-IN" smtClean="0"/>
              <a:t>‹#›</a:t>
            </a:fld>
            <a:endParaRPr lang="en-IN"/>
          </a:p>
        </p:txBody>
      </p:sp>
    </p:spTree>
    <p:extLst>
      <p:ext uri="{BB962C8B-B14F-4D97-AF65-F5344CB8AC3E}">
        <p14:creationId xmlns:p14="http://schemas.microsoft.com/office/powerpoint/2010/main" val="37759117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E0FC6-C7AD-041C-BA70-86F178F2168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1C7D5F2-5175-115E-902B-9541EC4C2A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CC046F-20EF-3490-A7B3-AFB3ADEA8243}"/>
              </a:ext>
            </a:extLst>
          </p:cNvPr>
          <p:cNvSpPr>
            <a:spLocks noGrp="1"/>
          </p:cNvSpPr>
          <p:nvPr>
            <p:ph type="dt" sz="half" idx="10"/>
          </p:nvPr>
        </p:nvSpPr>
        <p:spPr/>
        <p:txBody>
          <a:bodyPr/>
          <a:lstStyle/>
          <a:p>
            <a:fld id="{89D2D556-DA16-4A8A-BBBF-87201DE59F20}" type="datetimeFigureOut">
              <a:rPr lang="en-IN" smtClean="0"/>
              <a:t>28-03-2026</a:t>
            </a:fld>
            <a:endParaRPr lang="en-IN"/>
          </a:p>
        </p:txBody>
      </p:sp>
      <p:sp>
        <p:nvSpPr>
          <p:cNvPr id="5" name="Footer Placeholder 4">
            <a:extLst>
              <a:ext uri="{FF2B5EF4-FFF2-40B4-BE49-F238E27FC236}">
                <a16:creationId xmlns:a16="http://schemas.microsoft.com/office/drawing/2014/main" id="{AEE7372C-C3BD-F1C1-263F-F9FE452D95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479396-6497-4134-920F-23E62BBED2E9}"/>
              </a:ext>
            </a:extLst>
          </p:cNvPr>
          <p:cNvSpPr>
            <a:spLocks noGrp="1"/>
          </p:cNvSpPr>
          <p:nvPr>
            <p:ph type="sldNum" sz="quarter" idx="12"/>
          </p:nvPr>
        </p:nvSpPr>
        <p:spPr/>
        <p:txBody>
          <a:bodyPr/>
          <a:lstStyle/>
          <a:p>
            <a:fld id="{DDA18CBC-B950-4A72-9EE0-12179E490BE4}" type="slidenum">
              <a:rPr lang="en-IN" smtClean="0"/>
              <a:t>‹#›</a:t>
            </a:fld>
            <a:endParaRPr lang="en-IN"/>
          </a:p>
        </p:txBody>
      </p:sp>
    </p:spTree>
    <p:extLst>
      <p:ext uri="{BB962C8B-B14F-4D97-AF65-F5344CB8AC3E}">
        <p14:creationId xmlns:p14="http://schemas.microsoft.com/office/powerpoint/2010/main" val="10992687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7736D-41CB-08C2-691A-2B3F64C9DC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7FCA0EE-83C8-7969-46C6-BF4535E5835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6B66FA-B3CE-50E1-43CE-368A586DE228}"/>
              </a:ext>
            </a:extLst>
          </p:cNvPr>
          <p:cNvSpPr>
            <a:spLocks noGrp="1"/>
          </p:cNvSpPr>
          <p:nvPr>
            <p:ph type="dt" sz="half" idx="10"/>
          </p:nvPr>
        </p:nvSpPr>
        <p:spPr/>
        <p:txBody>
          <a:bodyPr/>
          <a:lstStyle/>
          <a:p>
            <a:fld id="{89D2D556-DA16-4A8A-BBBF-87201DE59F20}" type="datetimeFigureOut">
              <a:rPr lang="en-IN" smtClean="0"/>
              <a:t>28-03-2026</a:t>
            </a:fld>
            <a:endParaRPr lang="en-IN"/>
          </a:p>
        </p:txBody>
      </p:sp>
      <p:sp>
        <p:nvSpPr>
          <p:cNvPr id="5" name="Footer Placeholder 4">
            <a:extLst>
              <a:ext uri="{FF2B5EF4-FFF2-40B4-BE49-F238E27FC236}">
                <a16:creationId xmlns:a16="http://schemas.microsoft.com/office/drawing/2014/main" id="{B655DA09-4ACC-B2F3-56D9-110E14ABB1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D8E7DB-2BCF-530C-B7FB-6C67D31F7E94}"/>
              </a:ext>
            </a:extLst>
          </p:cNvPr>
          <p:cNvSpPr>
            <a:spLocks noGrp="1"/>
          </p:cNvSpPr>
          <p:nvPr>
            <p:ph type="sldNum" sz="quarter" idx="12"/>
          </p:nvPr>
        </p:nvSpPr>
        <p:spPr/>
        <p:txBody>
          <a:bodyPr/>
          <a:lstStyle/>
          <a:p>
            <a:fld id="{DDA18CBC-B950-4A72-9EE0-12179E490BE4}" type="slidenum">
              <a:rPr lang="en-IN" smtClean="0"/>
              <a:t>‹#›</a:t>
            </a:fld>
            <a:endParaRPr lang="en-IN"/>
          </a:p>
        </p:txBody>
      </p:sp>
    </p:spTree>
    <p:extLst>
      <p:ext uri="{BB962C8B-B14F-4D97-AF65-F5344CB8AC3E}">
        <p14:creationId xmlns:p14="http://schemas.microsoft.com/office/powerpoint/2010/main" val="1440374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5353A-CBCF-45B4-75A7-102CE451E3A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0202DE8-D615-DF27-43B9-F59346B605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86323A1-27CC-4A40-D289-DF4E899E82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A6C1F59-5B20-E341-2509-5A0DA1583297}"/>
              </a:ext>
            </a:extLst>
          </p:cNvPr>
          <p:cNvSpPr>
            <a:spLocks noGrp="1"/>
          </p:cNvSpPr>
          <p:nvPr>
            <p:ph type="dt" sz="half" idx="10"/>
          </p:nvPr>
        </p:nvSpPr>
        <p:spPr/>
        <p:txBody>
          <a:bodyPr/>
          <a:lstStyle/>
          <a:p>
            <a:fld id="{89D2D556-DA16-4A8A-BBBF-87201DE59F20}" type="datetimeFigureOut">
              <a:rPr lang="en-IN" smtClean="0"/>
              <a:t>28-03-2026</a:t>
            </a:fld>
            <a:endParaRPr lang="en-IN"/>
          </a:p>
        </p:txBody>
      </p:sp>
      <p:sp>
        <p:nvSpPr>
          <p:cNvPr id="6" name="Footer Placeholder 5">
            <a:extLst>
              <a:ext uri="{FF2B5EF4-FFF2-40B4-BE49-F238E27FC236}">
                <a16:creationId xmlns:a16="http://schemas.microsoft.com/office/drawing/2014/main" id="{0BBDE08A-787C-C022-F32F-1CBC909CCC4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BB17E85-4FEE-E21A-E8DC-5E9EB5995ADE}"/>
              </a:ext>
            </a:extLst>
          </p:cNvPr>
          <p:cNvSpPr>
            <a:spLocks noGrp="1"/>
          </p:cNvSpPr>
          <p:nvPr>
            <p:ph type="sldNum" sz="quarter" idx="12"/>
          </p:nvPr>
        </p:nvSpPr>
        <p:spPr/>
        <p:txBody>
          <a:bodyPr/>
          <a:lstStyle/>
          <a:p>
            <a:fld id="{DDA18CBC-B950-4A72-9EE0-12179E490BE4}" type="slidenum">
              <a:rPr lang="en-IN" smtClean="0"/>
              <a:t>‹#›</a:t>
            </a:fld>
            <a:endParaRPr lang="en-IN"/>
          </a:p>
        </p:txBody>
      </p:sp>
    </p:spTree>
    <p:extLst>
      <p:ext uri="{BB962C8B-B14F-4D97-AF65-F5344CB8AC3E}">
        <p14:creationId xmlns:p14="http://schemas.microsoft.com/office/powerpoint/2010/main" val="30807072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D9464-BF21-80BC-348C-5D52941E95B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40DFB26-64FF-5BFD-0444-D788D4BCAA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67AAF8F-D951-0C28-5747-92AED43B012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B96CA14-2ED4-99FA-4324-C100B29116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04E0AE-CA03-7299-9781-8B1ED94DB3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16FD3C9-D8BE-5F10-1061-29ADB01E0622}"/>
              </a:ext>
            </a:extLst>
          </p:cNvPr>
          <p:cNvSpPr>
            <a:spLocks noGrp="1"/>
          </p:cNvSpPr>
          <p:nvPr>
            <p:ph type="dt" sz="half" idx="10"/>
          </p:nvPr>
        </p:nvSpPr>
        <p:spPr/>
        <p:txBody>
          <a:bodyPr/>
          <a:lstStyle/>
          <a:p>
            <a:fld id="{89D2D556-DA16-4A8A-BBBF-87201DE59F20}" type="datetimeFigureOut">
              <a:rPr lang="en-IN" smtClean="0"/>
              <a:t>28-03-2026</a:t>
            </a:fld>
            <a:endParaRPr lang="en-IN"/>
          </a:p>
        </p:txBody>
      </p:sp>
      <p:sp>
        <p:nvSpPr>
          <p:cNvPr id="8" name="Footer Placeholder 7">
            <a:extLst>
              <a:ext uri="{FF2B5EF4-FFF2-40B4-BE49-F238E27FC236}">
                <a16:creationId xmlns:a16="http://schemas.microsoft.com/office/drawing/2014/main" id="{8957B64C-BD8B-9BED-597A-2E5EBAA1E7C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70D4442-C0D9-0914-32C9-2CE8A4061D3B}"/>
              </a:ext>
            </a:extLst>
          </p:cNvPr>
          <p:cNvSpPr>
            <a:spLocks noGrp="1"/>
          </p:cNvSpPr>
          <p:nvPr>
            <p:ph type="sldNum" sz="quarter" idx="12"/>
          </p:nvPr>
        </p:nvSpPr>
        <p:spPr/>
        <p:txBody>
          <a:bodyPr/>
          <a:lstStyle/>
          <a:p>
            <a:fld id="{DDA18CBC-B950-4A72-9EE0-12179E490BE4}" type="slidenum">
              <a:rPr lang="en-IN" smtClean="0"/>
              <a:t>‹#›</a:t>
            </a:fld>
            <a:endParaRPr lang="en-IN"/>
          </a:p>
        </p:txBody>
      </p:sp>
    </p:spTree>
    <p:extLst>
      <p:ext uri="{BB962C8B-B14F-4D97-AF65-F5344CB8AC3E}">
        <p14:creationId xmlns:p14="http://schemas.microsoft.com/office/powerpoint/2010/main" val="3785552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1E9DB-05A7-4A74-F3D6-4C9975BDA75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693C360-584B-5BFD-6325-35E9C262C352}"/>
              </a:ext>
            </a:extLst>
          </p:cNvPr>
          <p:cNvSpPr>
            <a:spLocks noGrp="1"/>
          </p:cNvSpPr>
          <p:nvPr>
            <p:ph type="dt" sz="half" idx="10"/>
          </p:nvPr>
        </p:nvSpPr>
        <p:spPr/>
        <p:txBody>
          <a:bodyPr/>
          <a:lstStyle/>
          <a:p>
            <a:fld id="{89D2D556-DA16-4A8A-BBBF-87201DE59F20}" type="datetimeFigureOut">
              <a:rPr lang="en-IN" smtClean="0"/>
              <a:t>28-03-2026</a:t>
            </a:fld>
            <a:endParaRPr lang="en-IN"/>
          </a:p>
        </p:txBody>
      </p:sp>
      <p:sp>
        <p:nvSpPr>
          <p:cNvPr id="4" name="Footer Placeholder 3">
            <a:extLst>
              <a:ext uri="{FF2B5EF4-FFF2-40B4-BE49-F238E27FC236}">
                <a16:creationId xmlns:a16="http://schemas.microsoft.com/office/drawing/2014/main" id="{0297C15B-AC8C-3810-CAE3-DF28F61ECB5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56358FD-AE39-CFFD-710B-022604CF6F4C}"/>
              </a:ext>
            </a:extLst>
          </p:cNvPr>
          <p:cNvSpPr>
            <a:spLocks noGrp="1"/>
          </p:cNvSpPr>
          <p:nvPr>
            <p:ph type="sldNum" sz="quarter" idx="12"/>
          </p:nvPr>
        </p:nvSpPr>
        <p:spPr/>
        <p:txBody>
          <a:bodyPr/>
          <a:lstStyle/>
          <a:p>
            <a:fld id="{DDA18CBC-B950-4A72-9EE0-12179E490BE4}" type="slidenum">
              <a:rPr lang="en-IN" smtClean="0"/>
              <a:t>‹#›</a:t>
            </a:fld>
            <a:endParaRPr lang="en-IN"/>
          </a:p>
        </p:txBody>
      </p:sp>
    </p:spTree>
    <p:extLst>
      <p:ext uri="{BB962C8B-B14F-4D97-AF65-F5344CB8AC3E}">
        <p14:creationId xmlns:p14="http://schemas.microsoft.com/office/powerpoint/2010/main" val="1571532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9C671C-C4C7-83AF-0E8F-F143297EF815}"/>
              </a:ext>
            </a:extLst>
          </p:cNvPr>
          <p:cNvSpPr>
            <a:spLocks noGrp="1"/>
          </p:cNvSpPr>
          <p:nvPr>
            <p:ph type="dt" sz="half" idx="10"/>
          </p:nvPr>
        </p:nvSpPr>
        <p:spPr/>
        <p:txBody>
          <a:bodyPr/>
          <a:lstStyle/>
          <a:p>
            <a:fld id="{89D2D556-DA16-4A8A-BBBF-87201DE59F20}" type="datetimeFigureOut">
              <a:rPr lang="en-IN" smtClean="0"/>
              <a:t>28-03-2026</a:t>
            </a:fld>
            <a:endParaRPr lang="en-IN"/>
          </a:p>
        </p:txBody>
      </p:sp>
      <p:sp>
        <p:nvSpPr>
          <p:cNvPr id="3" name="Footer Placeholder 2">
            <a:extLst>
              <a:ext uri="{FF2B5EF4-FFF2-40B4-BE49-F238E27FC236}">
                <a16:creationId xmlns:a16="http://schemas.microsoft.com/office/drawing/2014/main" id="{14A16DC8-B401-BD55-BF15-89F4A9C4B34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0BAF762-44DD-BD1B-AB72-1D8497F641BA}"/>
              </a:ext>
            </a:extLst>
          </p:cNvPr>
          <p:cNvSpPr>
            <a:spLocks noGrp="1"/>
          </p:cNvSpPr>
          <p:nvPr>
            <p:ph type="sldNum" sz="quarter" idx="12"/>
          </p:nvPr>
        </p:nvSpPr>
        <p:spPr/>
        <p:txBody>
          <a:bodyPr/>
          <a:lstStyle/>
          <a:p>
            <a:fld id="{DDA18CBC-B950-4A72-9EE0-12179E490BE4}" type="slidenum">
              <a:rPr lang="en-IN" smtClean="0"/>
              <a:t>‹#›</a:t>
            </a:fld>
            <a:endParaRPr lang="en-IN"/>
          </a:p>
        </p:txBody>
      </p:sp>
    </p:spTree>
    <p:extLst>
      <p:ext uri="{BB962C8B-B14F-4D97-AF65-F5344CB8AC3E}">
        <p14:creationId xmlns:p14="http://schemas.microsoft.com/office/powerpoint/2010/main" val="4120393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03C81-7AEF-F57E-DFA6-76B17C9660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C2BFF69-A404-1685-599D-3E81F307A7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C71E558-425C-ED82-A548-3C1D8B5496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DDF1B1-75BF-D9B8-C2BF-7A0343DD333E}"/>
              </a:ext>
            </a:extLst>
          </p:cNvPr>
          <p:cNvSpPr>
            <a:spLocks noGrp="1"/>
          </p:cNvSpPr>
          <p:nvPr>
            <p:ph type="dt" sz="half" idx="10"/>
          </p:nvPr>
        </p:nvSpPr>
        <p:spPr/>
        <p:txBody>
          <a:bodyPr/>
          <a:lstStyle/>
          <a:p>
            <a:fld id="{89D2D556-DA16-4A8A-BBBF-87201DE59F20}" type="datetimeFigureOut">
              <a:rPr lang="en-IN" smtClean="0"/>
              <a:t>28-03-2026</a:t>
            </a:fld>
            <a:endParaRPr lang="en-IN"/>
          </a:p>
        </p:txBody>
      </p:sp>
      <p:sp>
        <p:nvSpPr>
          <p:cNvPr id="6" name="Footer Placeholder 5">
            <a:extLst>
              <a:ext uri="{FF2B5EF4-FFF2-40B4-BE49-F238E27FC236}">
                <a16:creationId xmlns:a16="http://schemas.microsoft.com/office/drawing/2014/main" id="{1175EBA8-BF50-8BA0-6B27-F590B7EB395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065A388-1E4A-0431-8964-ADDAD089A6B1}"/>
              </a:ext>
            </a:extLst>
          </p:cNvPr>
          <p:cNvSpPr>
            <a:spLocks noGrp="1"/>
          </p:cNvSpPr>
          <p:nvPr>
            <p:ph type="sldNum" sz="quarter" idx="12"/>
          </p:nvPr>
        </p:nvSpPr>
        <p:spPr/>
        <p:txBody>
          <a:bodyPr/>
          <a:lstStyle/>
          <a:p>
            <a:fld id="{DDA18CBC-B950-4A72-9EE0-12179E490BE4}" type="slidenum">
              <a:rPr lang="en-IN" smtClean="0"/>
              <a:t>‹#›</a:t>
            </a:fld>
            <a:endParaRPr lang="en-IN"/>
          </a:p>
        </p:txBody>
      </p:sp>
    </p:spTree>
    <p:extLst>
      <p:ext uri="{BB962C8B-B14F-4D97-AF65-F5344CB8AC3E}">
        <p14:creationId xmlns:p14="http://schemas.microsoft.com/office/powerpoint/2010/main" val="34051537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CCFFA-23CE-2B1A-2AE2-FD696AAA99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C82BEA4-A664-A9B7-94AF-C873CE14C2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A2A76DC-BB28-9249-6B84-976833D19B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66DB46-6E70-0A85-967B-E91FF43A2137}"/>
              </a:ext>
            </a:extLst>
          </p:cNvPr>
          <p:cNvSpPr>
            <a:spLocks noGrp="1"/>
          </p:cNvSpPr>
          <p:nvPr>
            <p:ph type="dt" sz="half" idx="10"/>
          </p:nvPr>
        </p:nvSpPr>
        <p:spPr/>
        <p:txBody>
          <a:bodyPr/>
          <a:lstStyle/>
          <a:p>
            <a:fld id="{89D2D556-DA16-4A8A-BBBF-87201DE59F20}" type="datetimeFigureOut">
              <a:rPr lang="en-IN" smtClean="0"/>
              <a:t>28-03-2026</a:t>
            </a:fld>
            <a:endParaRPr lang="en-IN"/>
          </a:p>
        </p:txBody>
      </p:sp>
      <p:sp>
        <p:nvSpPr>
          <p:cNvPr id="6" name="Footer Placeholder 5">
            <a:extLst>
              <a:ext uri="{FF2B5EF4-FFF2-40B4-BE49-F238E27FC236}">
                <a16:creationId xmlns:a16="http://schemas.microsoft.com/office/drawing/2014/main" id="{0C7FE4C2-BA8A-94B0-6D2E-68EFE940F5F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EFD9661-1B2D-F476-E826-49A3996CB3AB}"/>
              </a:ext>
            </a:extLst>
          </p:cNvPr>
          <p:cNvSpPr>
            <a:spLocks noGrp="1"/>
          </p:cNvSpPr>
          <p:nvPr>
            <p:ph type="sldNum" sz="quarter" idx="12"/>
          </p:nvPr>
        </p:nvSpPr>
        <p:spPr/>
        <p:txBody>
          <a:bodyPr/>
          <a:lstStyle/>
          <a:p>
            <a:fld id="{DDA18CBC-B950-4A72-9EE0-12179E490BE4}" type="slidenum">
              <a:rPr lang="en-IN" smtClean="0"/>
              <a:t>‹#›</a:t>
            </a:fld>
            <a:endParaRPr lang="en-IN"/>
          </a:p>
        </p:txBody>
      </p:sp>
    </p:spTree>
    <p:extLst>
      <p:ext uri="{BB962C8B-B14F-4D97-AF65-F5344CB8AC3E}">
        <p14:creationId xmlns:p14="http://schemas.microsoft.com/office/powerpoint/2010/main" val="8357829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DFBD4-2EC1-2086-F3FC-41903273E77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3BD99A3-1FCA-4584-289E-79B8DF84C7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0C5C4F-4D5B-A898-E679-77BC297487F5}"/>
              </a:ext>
            </a:extLst>
          </p:cNvPr>
          <p:cNvSpPr>
            <a:spLocks noGrp="1"/>
          </p:cNvSpPr>
          <p:nvPr>
            <p:ph type="dt" sz="half" idx="10"/>
          </p:nvPr>
        </p:nvSpPr>
        <p:spPr/>
        <p:txBody>
          <a:bodyPr/>
          <a:lstStyle/>
          <a:p>
            <a:fld id="{89D2D556-DA16-4A8A-BBBF-87201DE59F20}" type="datetimeFigureOut">
              <a:rPr lang="en-IN" smtClean="0"/>
              <a:t>28-03-2026</a:t>
            </a:fld>
            <a:endParaRPr lang="en-IN"/>
          </a:p>
        </p:txBody>
      </p:sp>
      <p:sp>
        <p:nvSpPr>
          <p:cNvPr id="5" name="Footer Placeholder 4">
            <a:extLst>
              <a:ext uri="{FF2B5EF4-FFF2-40B4-BE49-F238E27FC236}">
                <a16:creationId xmlns:a16="http://schemas.microsoft.com/office/drawing/2014/main" id="{B8BFF9EC-A302-5E6A-98C4-6499CA4750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E6BBDA-3B0D-1E9E-47D1-3373FB464CA7}"/>
              </a:ext>
            </a:extLst>
          </p:cNvPr>
          <p:cNvSpPr>
            <a:spLocks noGrp="1"/>
          </p:cNvSpPr>
          <p:nvPr>
            <p:ph type="sldNum" sz="quarter" idx="12"/>
          </p:nvPr>
        </p:nvSpPr>
        <p:spPr/>
        <p:txBody>
          <a:bodyPr/>
          <a:lstStyle/>
          <a:p>
            <a:fld id="{DDA18CBC-B950-4A72-9EE0-12179E490BE4}" type="slidenum">
              <a:rPr lang="en-IN" smtClean="0"/>
              <a:t>‹#›</a:t>
            </a:fld>
            <a:endParaRPr lang="en-IN"/>
          </a:p>
        </p:txBody>
      </p:sp>
    </p:spTree>
    <p:extLst>
      <p:ext uri="{BB962C8B-B14F-4D97-AF65-F5344CB8AC3E}">
        <p14:creationId xmlns:p14="http://schemas.microsoft.com/office/powerpoint/2010/main" val="2212716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3024A7-03AA-01C6-DB17-5C3A695967B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865C44E-E5F1-EE04-8E27-D271B422DB9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EFBEA2-5C51-03A0-0976-86626857919E}"/>
              </a:ext>
            </a:extLst>
          </p:cNvPr>
          <p:cNvSpPr>
            <a:spLocks noGrp="1"/>
          </p:cNvSpPr>
          <p:nvPr>
            <p:ph type="dt" sz="half" idx="10"/>
          </p:nvPr>
        </p:nvSpPr>
        <p:spPr/>
        <p:txBody>
          <a:bodyPr/>
          <a:lstStyle/>
          <a:p>
            <a:fld id="{89D2D556-DA16-4A8A-BBBF-87201DE59F20}" type="datetimeFigureOut">
              <a:rPr lang="en-IN" smtClean="0"/>
              <a:t>28-03-2026</a:t>
            </a:fld>
            <a:endParaRPr lang="en-IN"/>
          </a:p>
        </p:txBody>
      </p:sp>
      <p:sp>
        <p:nvSpPr>
          <p:cNvPr id="5" name="Footer Placeholder 4">
            <a:extLst>
              <a:ext uri="{FF2B5EF4-FFF2-40B4-BE49-F238E27FC236}">
                <a16:creationId xmlns:a16="http://schemas.microsoft.com/office/drawing/2014/main" id="{E5E9006C-283A-55F4-C017-C2B1F9B0F4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0868BB-CD05-456C-16E3-F06BADFB2494}"/>
              </a:ext>
            </a:extLst>
          </p:cNvPr>
          <p:cNvSpPr>
            <a:spLocks noGrp="1"/>
          </p:cNvSpPr>
          <p:nvPr>
            <p:ph type="sldNum" sz="quarter" idx="12"/>
          </p:nvPr>
        </p:nvSpPr>
        <p:spPr/>
        <p:txBody>
          <a:bodyPr/>
          <a:lstStyle/>
          <a:p>
            <a:fld id="{DDA18CBC-B950-4A72-9EE0-12179E490BE4}" type="slidenum">
              <a:rPr lang="en-IN" smtClean="0"/>
              <a:t>‹#›</a:t>
            </a:fld>
            <a:endParaRPr lang="en-IN"/>
          </a:p>
        </p:txBody>
      </p:sp>
    </p:spTree>
    <p:extLst>
      <p:ext uri="{BB962C8B-B14F-4D97-AF65-F5344CB8AC3E}">
        <p14:creationId xmlns:p14="http://schemas.microsoft.com/office/powerpoint/2010/main" val="7455664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54124D-E66B-FD4D-70D5-F3837A4359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5D4F9F7-B2A3-18E2-A95C-222255651B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A3F69A-91C3-C6D1-C306-F552B71B78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9D2D556-DA16-4A8A-BBBF-87201DE59F20}" type="datetimeFigureOut">
              <a:rPr lang="en-IN" smtClean="0"/>
              <a:t>28-03-2026</a:t>
            </a:fld>
            <a:endParaRPr lang="en-IN"/>
          </a:p>
        </p:txBody>
      </p:sp>
      <p:sp>
        <p:nvSpPr>
          <p:cNvPr id="5" name="Footer Placeholder 4">
            <a:extLst>
              <a:ext uri="{FF2B5EF4-FFF2-40B4-BE49-F238E27FC236}">
                <a16:creationId xmlns:a16="http://schemas.microsoft.com/office/drawing/2014/main" id="{2E67880F-F370-BC6E-46EC-EA930840E3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D8D0115-C911-D6DA-E198-624C17D228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DA18CBC-B950-4A72-9EE0-12179E490BE4}" type="slidenum">
              <a:rPr lang="en-IN" smtClean="0"/>
              <a:t>‹#›</a:t>
            </a:fld>
            <a:endParaRPr lang="en-IN"/>
          </a:p>
        </p:txBody>
      </p:sp>
    </p:spTree>
    <p:extLst>
      <p:ext uri="{BB962C8B-B14F-4D97-AF65-F5344CB8AC3E}">
        <p14:creationId xmlns:p14="http://schemas.microsoft.com/office/powerpoint/2010/main" val="16810318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customXml" Target="../ink/ink6.xm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10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0.png"/><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90.png"/><Relationship Id="rId4" Type="http://schemas.openxmlformats.org/officeDocument/2006/relationships/image" Target="../media/image60.png"/><Relationship Id="rId9" Type="http://schemas.openxmlformats.org/officeDocument/2006/relationships/customXml" Target="../ink/ink4.xml"/><Relationship Id="rId14" Type="http://schemas.openxmlformats.org/officeDocument/2006/relationships/image" Target="../media/image1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7C34A-878D-9B49-A854-D13A5FC35AAE}"/>
              </a:ext>
            </a:extLst>
          </p:cNvPr>
          <p:cNvSpPr>
            <a:spLocks noGrp="1"/>
          </p:cNvSpPr>
          <p:nvPr>
            <p:ph type="ctrTitle"/>
          </p:nvPr>
        </p:nvSpPr>
        <p:spPr>
          <a:xfrm>
            <a:off x="8797564" y="4114833"/>
            <a:ext cx="3182942" cy="1567509"/>
          </a:xfrm>
        </p:spPr>
        <p:txBody>
          <a:bodyPr>
            <a:normAutofit/>
          </a:bodyPr>
          <a:lstStyle/>
          <a:p>
            <a:r>
              <a:rPr lang="en-US" sz="2000" dirty="0">
                <a:latin typeface="Times New Roman" panose="02020603050405020304" pitchFamily="18" charset="0"/>
                <a:cs typeface="Times New Roman" panose="02020603050405020304" pitchFamily="18" charset="0"/>
              </a:rPr>
              <a:t>Presented By:</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Batch-15</a:t>
            </a:r>
            <a:br>
              <a:rPr lang="en-US" sz="2000" dirty="0">
                <a:latin typeface="Times New Roman" panose="02020603050405020304" pitchFamily="18" charset="0"/>
                <a:cs typeface="Times New Roman" panose="02020603050405020304" pitchFamily="18" charset="0"/>
              </a:rPr>
            </a:br>
            <a:r>
              <a:rPr lang="en-US" sz="2000" dirty="0" err="1">
                <a:latin typeface="Times New Roman" panose="02020603050405020304" pitchFamily="18" charset="0"/>
                <a:cs typeface="Times New Roman" panose="02020603050405020304" pitchFamily="18" charset="0"/>
              </a:rPr>
              <a:t>M.Akshaya</a:t>
            </a:r>
            <a:r>
              <a:rPr lang="en-US" sz="2000" dirty="0">
                <a:latin typeface="Times New Roman" panose="02020603050405020304" pitchFamily="18" charset="0"/>
                <a:cs typeface="Times New Roman" panose="02020603050405020304" pitchFamily="18" charset="0"/>
              </a:rPr>
              <a:t>(247R1A05W4)</a:t>
            </a:r>
            <a:br>
              <a:rPr lang="en-US" sz="2000" dirty="0">
                <a:latin typeface="Times New Roman" panose="02020603050405020304" pitchFamily="18" charset="0"/>
                <a:cs typeface="Times New Roman" panose="02020603050405020304" pitchFamily="18" charset="0"/>
              </a:rPr>
            </a:br>
            <a:r>
              <a:rPr lang="en-US" sz="2000" dirty="0" err="1">
                <a:latin typeface="Times New Roman" panose="02020603050405020304" pitchFamily="18" charset="0"/>
                <a:cs typeface="Times New Roman" panose="02020603050405020304" pitchFamily="18" charset="0"/>
              </a:rPr>
              <a:t>M.Abhiram</a:t>
            </a:r>
            <a:r>
              <a:rPr lang="en-US" sz="2000" dirty="0">
                <a:latin typeface="Times New Roman" panose="02020603050405020304" pitchFamily="18" charset="0"/>
                <a:cs typeface="Times New Roman" panose="02020603050405020304" pitchFamily="18" charset="0"/>
              </a:rPr>
              <a:t>(247R1A05V8)</a:t>
            </a:r>
            <a:br>
              <a:rPr lang="en-US" sz="2000" dirty="0">
                <a:latin typeface="Times New Roman" panose="02020603050405020304" pitchFamily="18" charset="0"/>
                <a:cs typeface="Times New Roman" panose="02020603050405020304" pitchFamily="18" charset="0"/>
              </a:rPr>
            </a:br>
            <a:r>
              <a:rPr lang="en-US" sz="2000">
                <a:latin typeface="Times New Roman" panose="02020603050405020304" pitchFamily="18" charset="0"/>
                <a:cs typeface="Times New Roman" panose="02020603050405020304" pitchFamily="18" charset="0"/>
              </a:rPr>
              <a:t>Shiven.K(</a:t>
            </a:r>
            <a:r>
              <a:rPr lang="en-US" sz="2000" dirty="0">
                <a:latin typeface="Times New Roman" panose="02020603050405020304" pitchFamily="18" charset="0"/>
                <a:cs typeface="Times New Roman" panose="02020603050405020304" pitchFamily="18" charset="0"/>
              </a:rPr>
              <a:t>247R1A05Y2)</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5F99D6E-D812-B8C6-A074-73E7CBA53F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01612" y="0"/>
            <a:ext cx="2239147" cy="1894503"/>
          </a:xfrm>
          <a:prstGeom prst="rect">
            <a:avLst/>
          </a:prstGeom>
        </p:spPr>
      </p:pic>
      <p:sp>
        <p:nvSpPr>
          <p:cNvPr id="6" name="Subtitle 5">
            <a:extLst>
              <a:ext uri="{FF2B5EF4-FFF2-40B4-BE49-F238E27FC236}">
                <a16:creationId xmlns:a16="http://schemas.microsoft.com/office/drawing/2014/main" id="{FA9A14BA-A31E-66C2-5428-D0FC3592CE78}"/>
              </a:ext>
            </a:extLst>
          </p:cNvPr>
          <p:cNvSpPr>
            <a:spLocks noGrp="1"/>
          </p:cNvSpPr>
          <p:nvPr>
            <p:ph type="subTitle" idx="1"/>
          </p:nvPr>
        </p:nvSpPr>
        <p:spPr>
          <a:xfrm>
            <a:off x="1626636" y="2724961"/>
            <a:ext cx="9144000" cy="559415"/>
          </a:xfrm>
        </p:spPr>
        <p:txBody>
          <a:bodyPr>
            <a:normAutofit fontScale="85000" lnSpcReduction="10000"/>
          </a:bodyPr>
          <a:lstStyle/>
          <a:p>
            <a:r>
              <a:rPr lang="en-IN" sz="3200" b="1" dirty="0">
                <a:latin typeface="Times New Roman" panose="02020603050405020304" pitchFamily="18" charset="0"/>
                <a:cs typeface="Times New Roman" panose="02020603050405020304" pitchFamily="18" charset="0"/>
              </a:rPr>
              <a:t>STUDENT PERFORMANCE PREDICTOR &amp; TRACKER</a:t>
            </a:r>
            <a:endParaRPr lang="en-IN" sz="32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38502D30-A35B-519E-C015-2E48E3B447EE}"/>
              </a:ext>
            </a:extLst>
          </p:cNvPr>
          <p:cNvSpPr txBox="1">
            <a:spLocks/>
          </p:cNvSpPr>
          <p:nvPr/>
        </p:nvSpPr>
        <p:spPr>
          <a:xfrm>
            <a:off x="990952" y="4114833"/>
            <a:ext cx="3182942" cy="156750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Under the Guidance of:</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V. Hari Hara </a:t>
            </a:r>
            <a:r>
              <a:rPr lang="en-US" sz="2000" dirty="0" err="1">
                <a:latin typeface="Times New Roman" panose="02020603050405020304" pitchFamily="18" charset="0"/>
                <a:cs typeface="Times New Roman" panose="02020603050405020304" pitchFamily="18" charset="0"/>
              </a:rPr>
              <a:t>Nadha</a:t>
            </a:r>
            <a:r>
              <a:rPr lang="en-US" sz="2000" dirty="0">
                <a:latin typeface="Times New Roman" panose="02020603050405020304" pitchFamily="18" charset="0"/>
                <a:cs typeface="Times New Roman" panose="02020603050405020304" pitchFamily="18" charset="0"/>
              </a:rPr>
              <a:t> Sai</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(Assistant Professor)</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423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BEB40-602C-8D09-B98C-ACFDFBAFE1D1}"/>
              </a:ext>
            </a:extLst>
          </p:cNvPr>
          <p:cNvSpPr>
            <a:spLocks noGrp="1"/>
          </p:cNvSpPr>
          <p:nvPr>
            <p:ph type="title"/>
          </p:nvPr>
        </p:nvSpPr>
        <p:spPr>
          <a:xfrm>
            <a:off x="838200" y="466530"/>
            <a:ext cx="10515600" cy="737119"/>
          </a:xfrm>
        </p:spPr>
        <p:txBody>
          <a:bodyPr/>
          <a:lstStyle/>
          <a:p>
            <a:r>
              <a:rPr lang="en-US" dirty="0">
                <a:latin typeface="Times New Roman" panose="02020603050405020304" pitchFamily="18" charset="0"/>
                <a:cs typeface="Times New Roman" panose="02020603050405020304" pitchFamily="18" charset="0"/>
              </a:rPr>
              <a:t>Abstract:</a:t>
            </a:r>
            <a:endParaRPr lang="en-IN" dirty="0">
              <a:latin typeface="Times New Roman" panose="02020603050405020304" pitchFamily="18" charset="0"/>
              <a:cs typeface="Times New Roman" panose="02020603050405020304" pitchFamily="18" charset="0"/>
            </a:endParaRPr>
          </a:p>
        </p:txBody>
      </p:sp>
      <p:sp>
        <p:nvSpPr>
          <p:cNvPr id="9" name="Content Placeholder 8">
            <a:extLst>
              <a:ext uri="{FF2B5EF4-FFF2-40B4-BE49-F238E27FC236}">
                <a16:creationId xmlns:a16="http://schemas.microsoft.com/office/drawing/2014/main" id="{B68FB305-CD0F-3F2E-E700-DA60B1EC7B86}"/>
              </a:ext>
            </a:extLst>
          </p:cNvPr>
          <p:cNvSpPr>
            <a:spLocks noGrp="1"/>
          </p:cNvSpPr>
          <p:nvPr>
            <p:ph idx="1"/>
          </p:nvPr>
        </p:nvSpPr>
        <p:spPr>
          <a:xfrm>
            <a:off x="838200" y="1844285"/>
            <a:ext cx="10515600" cy="4416556"/>
          </a:xfrm>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The Student Performance Predictor and Tracker is a data-driven system designed to analyze and predict students’ academic performance using advanced data analytics and machine learning techniques. It examines various academic factors such as marks, attendance, classroom participation, and other related data to understand learning patterns and trends in student </a:t>
            </a:r>
            <a:r>
              <a:rPr lang="en-US" sz="2000" dirty="0" err="1">
                <a:latin typeface="Times New Roman" panose="02020603050405020304" pitchFamily="18" charset="0"/>
                <a:cs typeface="Times New Roman" panose="02020603050405020304" pitchFamily="18" charset="0"/>
              </a:rPr>
              <a:t>performance.By</a:t>
            </a:r>
            <a:r>
              <a:rPr lang="en-US" sz="2000" dirty="0">
                <a:latin typeface="Times New Roman" panose="02020603050405020304" pitchFamily="18" charset="0"/>
                <a:cs typeface="Times New Roman" panose="02020603050405020304" pitchFamily="18" charset="0"/>
              </a:rPr>
              <a:t> analyzing historical and real-time student data, the system can identify students who may be at risk of poor academic performance. This early prediction allows educators to take timely action and implement effective strategies to support students who need additional academic </a:t>
            </a:r>
            <a:r>
              <a:rPr lang="en-US" sz="2000" dirty="0" err="1">
                <a:latin typeface="Times New Roman" panose="02020603050405020304" pitchFamily="18" charset="0"/>
                <a:cs typeface="Times New Roman" panose="02020603050405020304" pitchFamily="18" charset="0"/>
              </a:rPr>
              <a:t>guidance.The</a:t>
            </a:r>
            <a:r>
              <a:rPr lang="en-US" sz="2000" dirty="0">
                <a:latin typeface="Times New Roman" panose="02020603050405020304" pitchFamily="18" charset="0"/>
                <a:cs typeface="Times New Roman" panose="02020603050405020304" pitchFamily="18" charset="0"/>
              </a:rPr>
              <a:t> system also includes real-time monitoring and tracking features that allow teachers to continuously observe student progress, engagement, and improvement. This helps educators better understand each student's learning behavior and adjust their teaching methods </a:t>
            </a:r>
            <a:r>
              <a:rPr lang="en-US" sz="2000" dirty="0" err="1">
                <a:latin typeface="Times New Roman" panose="02020603050405020304" pitchFamily="18" charset="0"/>
                <a:cs typeface="Times New Roman" panose="02020603050405020304" pitchFamily="18" charset="0"/>
              </a:rPr>
              <a:t>accordingly.Overall</a:t>
            </a:r>
            <a:r>
              <a:rPr lang="en-US" sz="2000" dirty="0">
                <a:latin typeface="Times New Roman" panose="02020603050405020304" pitchFamily="18" charset="0"/>
                <a:cs typeface="Times New Roman" panose="02020603050405020304" pitchFamily="18" charset="0"/>
              </a:rPr>
              <a:t>, the Student Performance Predictor and Tracker helps educational institutions make informed, data-driven decisions. It supports personalized learning, improves academic outcomes, and creates a more supportive educational environment where every student has a better opportunity to succeed.</a:t>
            </a:r>
          </a:p>
          <a:p>
            <a:pPr marL="0" indent="0" algn="just">
              <a:buNone/>
            </a:pPr>
            <a:endParaRPr lang="en-IN" dirty="0"/>
          </a:p>
        </p:txBody>
      </p:sp>
    </p:spTree>
    <p:extLst>
      <p:ext uri="{BB962C8B-B14F-4D97-AF65-F5344CB8AC3E}">
        <p14:creationId xmlns:p14="http://schemas.microsoft.com/office/powerpoint/2010/main" val="745317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F36C2-1CCE-BC71-B8C3-6C7B680CE3F7}"/>
              </a:ext>
            </a:extLst>
          </p:cNvPr>
          <p:cNvSpPr>
            <a:spLocks noGrp="1"/>
          </p:cNvSpPr>
          <p:nvPr>
            <p:ph type="title"/>
          </p:nvPr>
        </p:nvSpPr>
        <p:spPr>
          <a:xfrm>
            <a:off x="838200" y="290480"/>
            <a:ext cx="10515600" cy="791871"/>
          </a:xfrm>
        </p:spPr>
        <p:txBody>
          <a:bodyPr/>
          <a:lstStyle/>
          <a:p>
            <a:r>
              <a:rPr lang="en-US" dirty="0">
                <a:latin typeface="Times New Roman" panose="02020603050405020304" pitchFamily="18" charset="0"/>
                <a:cs typeface="Times New Roman" panose="02020603050405020304" pitchFamily="18" charset="0"/>
              </a:rPr>
              <a:t>Existing System:</a:t>
            </a:r>
            <a:endParaRPr lang="en-IN"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39FB7398-1DD6-AF34-1100-1D7D8A585280}"/>
              </a:ext>
            </a:extLst>
          </p:cNvPr>
          <p:cNvSpPr>
            <a:spLocks noGrp="1" noChangeArrowheads="1"/>
          </p:cNvSpPr>
          <p:nvPr>
            <p:ph idx="1"/>
          </p:nvPr>
        </p:nvSpPr>
        <p:spPr bwMode="auto">
          <a:xfrm>
            <a:off x="940836" y="1357777"/>
            <a:ext cx="10106025"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Many current systems rely only on basic data such as grades and attendance, which gives a limited view of student performance and makes it difficult to identify important patterns or trends that affect student success.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Most tools focus on analyzing past academic results instead of predicting future outcomes. This reactive approach delays the identification of at-risk students and prevents educators from providing timely support and interventions.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Many systems depend on manual data entry and simple analysis methods, which can lead to errors and inconsistencies. Additionally, they do not use advanced analytics or machine learning techniques that could improve prediction accuracy and provide deeper insights.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lgn="just" eaLnBrk="0" fontAlgn="base" hangingPunct="0">
              <a:lnSpc>
                <a:spcPct val="100000"/>
              </a:lnSpc>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 Many existing systems do not effectively track students’ learning behavior, engagement, or real-time academic activities. Because of this, educators lack continuous monitoring tools to understand student progress and provide personalized guidance throughout the learning process.</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3721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3931F-ED01-151E-C9B5-03D823F826D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Disadvantages of Existing System:</a:t>
            </a:r>
            <a:endParaRPr lang="en-IN"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24736D0-C7C1-A933-D1D6-5F2E0301B353}"/>
              </a:ext>
            </a:extLst>
          </p:cNvPr>
          <p:cNvSpPr>
            <a:spLocks noGrp="1"/>
          </p:cNvSpPr>
          <p:nvPr>
            <p:ph idx="1"/>
          </p:nvPr>
        </p:nvSpPr>
        <p:spPr/>
        <p:txBody>
          <a:bodyPr>
            <a:normAutofit/>
          </a:bodyPr>
          <a:lstStyle/>
          <a:p>
            <a:r>
              <a:rPr lang="en-US" sz="2000" b="1" dirty="0">
                <a:latin typeface="Times New Roman" panose="02020603050405020304" pitchFamily="18" charset="0"/>
                <a:cs typeface="Times New Roman" panose="02020603050405020304" pitchFamily="18" charset="0"/>
              </a:rPr>
              <a:t>Limited prediction ability</a:t>
            </a:r>
            <a:r>
              <a:rPr lang="en-US" sz="2000" dirty="0">
                <a:latin typeface="Times New Roman" panose="02020603050405020304" pitchFamily="18" charset="0"/>
                <a:cs typeface="Times New Roman" panose="02020603050405020304" pitchFamily="18" charset="0"/>
              </a:rPr>
              <a:t> – Most systems only analyze past results and cannot accurately predict future student performance.</a:t>
            </a:r>
          </a:p>
          <a:p>
            <a:r>
              <a:rPr lang="en-US" sz="2000" b="1" dirty="0">
                <a:latin typeface="Times New Roman" panose="02020603050405020304" pitchFamily="18" charset="0"/>
                <a:cs typeface="Times New Roman" panose="02020603050405020304" pitchFamily="18" charset="0"/>
              </a:rPr>
              <a:t>No real-time data monitoring</a:t>
            </a:r>
            <a:r>
              <a:rPr lang="en-US" sz="2000" dirty="0">
                <a:latin typeface="Times New Roman" panose="02020603050405020304" pitchFamily="18" charset="0"/>
                <a:cs typeface="Times New Roman" panose="02020603050405020304" pitchFamily="18" charset="0"/>
              </a:rPr>
              <a:t> – They do not provide real-time updates on student engagement and academic progress.</a:t>
            </a:r>
          </a:p>
          <a:p>
            <a:r>
              <a:rPr lang="en-US" sz="2000" b="1" dirty="0">
                <a:latin typeface="Times New Roman" panose="02020603050405020304" pitchFamily="18" charset="0"/>
                <a:cs typeface="Times New Roman" panose="02020603050405020304" pitchFamily="18" charset="0"/>
              </a:rPr>
              <a:t>Manual data entry</a:t>
            </a:r>
            <a:r>
              <a:rPr lang="en-US" sz="2000" dirty="0">
                <a:latin typeface="Times New Roman" panose="02020603050405020304" pitchFamily="18" charset="0"/>
                <a:cs typeface="Times New Roman" panose="02020603050405020304" pitchFamily="18" charset="0"/>
              </a:rPr>
              <a:t> – Many systems depend on manual data collection, which can cause errors and increase workload for teachers.</a:t>
            </a:r>
          </a:p>
          <a:p>
            <a:r>
              <a:rPr lang="en-US" sz="2000" b="1" dirty="0">
                <a:latin typeface="Times New Roman" panose="02020603050405020304" pitchFamily="18" charset="0"/>
                <a:cs typeface="Times New Roman" panose="02020603050405020304" pitchFamily="18" charset="0"/>
              </a:rPr>
              <a:t>Inaccurate identification of students</a:t>
            </a:r>
            <a:r>
              <a:rPr lang="en-US" sz="2000" dirty="0">
                <a:latin typeface="Times New Roman" panose="02020603050405020304" pitchFamily="18" charset="0"/>
                <a:cs typeface="Times New Roman" panose="02020603050405020304" pitchFamily="18" charset="0"/>
              </a:rPr>
              <a:t> – Some systems may wrongly identify students as at-risk, which can lead to unnecessary attention and wasted resources.</a:t>
            </a:r>
          </a:p>
          <a:p>
            <a:r>
              <a:rPr lang="en-US" sz="2000" b="1" dirty="0">
                <a:latin typeface="Times New Roman" panose="02020603050405020304" pitchFamily="18" charset="0"/>
                <a:cs typeface="Times New Roman" panose="02020603050405020304" pitchFamily="18" charset="0"/>
              </a:rPr>
              <a:t>Lack of integrated data</a:t>
            </a:r>
            <a:r>
              <a:rPr lang="en-US" sz="2000" dirty="0">
                <a:latin typeface="Times New Roman" panose="02020603050405020304" pitchFamily="18" charset="0"/>
                <a:cs typeface="Times New Roman" panose="02020603050405020304" pitchFamily="18" charset="0"/>
              </a:rPr>
              <a:t> – Existing systems often do not combine different factors like attendance, background, and activities, limiting a complete understanding of student performance.</a:t>
            </a:r>
          </a:p>
          <a:p>
            <a:endParaRPr lang="en-IN" dirty="0"/>
          </a:p>
        </p:txBody>
      </p:sp>
    </p:spTree>
    <p:extLst>
      <p:ext uri="{BB962C8B-B14F-4D97-AF65-F5344CB8AC3E}">
        <p14:creationId xmlns:p14="http://schemas.microsoft.com/office/powerpoint/2010/main" val="19441156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3DED5-0B53-016C-60B0-EF80FA9E908E}"/>
              </a:ext>
            </a:extLst>
          </p:cNvPr>
          <p:cNvSpPr>
            <a:spLocks noGrp="1"/>
          </p:cNvSpPr>
          <p:nvPr>
            <p:ph type="title"/>
          </p:nvPr>
        </p:nvSpPr>
        <p:spPr>
          <a:xfrm>
            <a:off x="838200" y="66545"/>
            <a:ext cx="10515600" cy="1325563"/>
          </a:xfrm>
        </p:spPr>
        <p:txBody>
          <a:bodyPr/>
          <a:lstStyle/>
          <a:p>
            <a:r>
              <a:rPr lang="en-US" dirty="0">
                <a:latin typeface="Times New Roman" panose="02020603050405020304" pitchFamily="18" charset="0"/>
                <a:cs typeface="Times New Roman" panose="02020603050405020304" pitchFamily="18" charset="0"/>
              </a:rPr>
              <a:t>Proposed System:</a:t>
            </a:r>
            <a:endParaRPr lang="en-IN" dirty="0">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DEEAA205-1A5B-C8F0-317E-D257728D99D2}"/>
              </a:ext>
            </a:extLst>
          </p:cNvPr>
          <p:cNvSpPr>
            <a:spLocks noGrp="1" noChangeArrowheads="1"/>
          </p:cNvSpPr>
          <p:nvPr>
            <p:ph idx="1"/>
          </p:nvPr>
        </p:nvSpPr>
        <p:spPr bwMode="auto">
          <a:xfrm>
            <a:off x="838200" y="1476117"/>
            <a:ext cx="1032510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proposed system collects and integrates different types of student data such as marks, attendance, participation, extracurricular activities, and other academic factors to provide a complete and detailed understanding of student performance.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uses data analytics and machine learning techniques to analyze historical student data and predict future academic performance, helping educators understand performance trends and patterns.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helps identify students who may be at risk of poor academic performance at an early stage, allowing teachers to provide timely support, guidance, and necessary interventions.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provides real-time monitoring of student attendance, engagement, and academic progress so that educators can continuously track and evaluate student performance.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platform offers an easy-to-use interface with dashboards, reports, and alerts that help teachers and administrators make better data-driven decisions to improve overall student learning outcomes.</a:t>
            </a:r>
          </a:p>
        </p:txBody>
      </p:sp>
    </p:spTree>
    <p:extLst>
      <p:ext uri="{BB962C8B-B14F-4D97-AF65-F5344CB8AC3E}">
        <p14:creationId xmlns:p14="http://schemas.microsoft.com/office/powerpoint/2010/main" val="13199038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C661A-C442-D62F-F3F8-4BA67360880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Advantages of Proposed System:</a:t>
            </a:r>
            <a:endParaRPr lang="en-IN" dirty="0">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64C0E3D2-29C8-B7B2-F92A-58B61F42C448}"/>
              </a:ext>
            </a:extLst>
          </p:cNvPr>
          <p:cNvSpPr>
            <a:spLocks noGrp="1" noChangeArrowheads="1"/>
          </p:cNvSpPr>
          <p:nvPr>
            <p:ph idx="1"/>
          </p:nvPr>
        </p:nvSpPr>
        <p:spPr bwMode="auto">
          <a:xfrm>
            <a:off x="838200" y="1646803"/>
            <a:ext cx="10848975"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Enhanced Prediction Accuracy:</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uses advanced data analytics and machine learning techniques to predict student academic performance more accurately.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Real-Time Monitoring:</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allows teachers to track student attendance, engagement, and academic progress in real time, helping them take quick action when problems occur.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Comprehensive Data Integration:</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combines different types of student data such as marks, attendance, and other factors to provide a complete view of student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Personalized Learning Support: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By analyzing individual learning patterns, the system helps teachers provide personalized guidance and support to students.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User-Friendly Interface:</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platform provides an easy-to-use dashboard with reports and visualizations, making it simple for educators to understand student performance and make better decisions.</a:t>
            </a:r>
          </a:p>
        </p:txBody>
      </p:sp>
    </p:spTree>
    <p:extLst>
      <p:ext uri="{BB962C8B-B14F-4D97-AF65-F5344CB8AC3E}">
        <p14:creationId xmlns:p14="http://schemas.microsoft.com/office/powerpoint/2010/main" val="1916865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F6F98-58E8-24E9-1F85-2FE3BB5F7195}"/>
              </a:ext>
            </a:extLst>
          </p:cNvPr>
          <p:cNvSpPr>
            <a:spLocks noGrp="1"/>
          </p:cNvSpPr>
          <p:nvPr>
            <p:ph type="title"/>
          </p:nvPr>
        </p:nvSpPr>
        <p:spPr>
          <a:xfrm>
            <a:off x="688910" y="1306991"/>
            <a:ext cx="4788160" cy="1193613"/>
          </a:xfrm>
        </p:spPr>
        <p:txBody>
          <a:bodyPr>
            <a:normAutofit/>
          </a:bodyPr>
          <a:lstStyle/>
          <a:p>
            <a:r>
              <a:rPr lang="en-US" sz="2400" b="1" dirty="0">
                <a:latin typeface="Times New Roman" panose="02020603050405020304" pitchFamily="18" charset="0"/>
                <a:cs typeface="Times New Roman" panose="02020603050405020304" pitchFamily="18" charset="0"/>
              </a:rPr>
              <a:t>Hardware Requirements:</a:t>
            </a:r>
            <a:endParaRPr lang="en-IN" sz="2400" b="1"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5530A30B-749F-342C-6646-3F9003D6A82D}"/>
              </a:ext>
            </a:extLst>
          </p:cNvPr>
          <p:cNvSpPr>
            <a:spLocks noGrp="1"/>
          </p:cNvSpPr>
          <p:nvPr>
            <p:ph idx="1"/>
          </p:nvPr>
        </p:nvSpPr>
        <p:spPr>
          <a:xfrm>
            <a:off x="688910" y="2303026"/>
            <a:ext cx="10515600" cy="4351338"/>
          </a:xfrm>
        </p:spPr>
        <p:txBody>
          <a:bodyPr/>
          <a:lstStyle/>
          <a:p>
            <a:r>
              <a:rPr lang="en-IN" sz="2000" dirty="0">
                <a:latin typeface="Times New Roman" panose="02020603050405020304" pitchFamily="18" charset="0"/>
                <a:cs typeface="Times New Roman" panose="02020603050405020304" pitchFamily="18" charset="0"/>
              </a:rPr>
              <a:t>System		 : Pentium IV 2.4 GHz.</a:t>
            </a:r>
          </a:p>
          <a:p>
            <a:r>
              <a:rPr lang="en-IN" sz="2000" dirty="0">
                <a:latin typeface="Times New Roman" panose="02020603050405020304" pitchFamily="18" charset="0"/>
                <a:cs typeface="Times New Roman" panose="02020603050405020304" pitchFamily="18" charset="0"/>
              </a:rPr>
              <a:t>Hard Disk        	: 40 GB.</a:t>
            </a:r>
          </a:p>
          <a:p>
            <a:r>
              <a:rPr lang="en-IN" sz="2000" dirty="0">
                <a:latin typeface="Times New Roman" panose="02020603050405020304" pitchFamily="18" charset="0"/>
                <a:cs typeface="Times New Roman" panose="02020603050405020304" pitchFamily="18" charset="0"/>
              </a:rPr>
              <a:t>Ram		: 512 Mb.</a:t>
            </a:r>
          </a:p>
          <a:p>
            <a:pPr marL="0" indent="0">
              <a:buNone/>
            </a:pPr>
            <a:endParaRPr lang="en-IN" dirty="0"/>
          </a:p>
        </p:txBody>
      </p:sp>
      <p:sp>
        <p:nvSpPr>
          <p:cNvPr id="4" name="TextBox 3">
            <a:extLst>
              <a:ext uri="{FF2B5EF4-FFF2-40B4-BE49-F238E27FC236}">
                <a16:creationId xmlns:a16="http://schemas.microsoft.com/office/drawing/2014/main" id="{18EA6720-F239-21A2-B7B9-C446146C6D60}"/>
              </a:ext>
            </a:extLst>
          </p:cNvPr>
          <p:cNvSpPr txBox="1"/>
          <p:nvPr/>
        </p:nvSpPr>
        <p:spPr>
          <a:xfrm>
            <a:off x="688910" y="599105"/>
            <a:ext cx="7326086" cy="707886"/>
          </a:xfrm>
          <a:prstGeom prst="rect">
            <a:avLst/>
          </a:prstGeom>
          <a:noFill/>
        </p:spPr>
        <p:txBody>
          <a:bodyPr wrap="square">
            <a:spAutoFit/>
          </a:bodyPr>
          <a:lstStyle/>
          <a:p>
            <a:r>
              <a:rPr lang="en-US" sz="4000" dirty="0">
                <a:latin typeface="Times New Roman" panose="02020603050405020304" pitchFamily="18" charset="0"/>
                <a:cs typeface="Times New Roman" panose="02020603050405020304" pitchFamily="18" charset="0"/>
              </a:rPr>
              <a:t>SYSTEM REQUIREMENTS</a:t>
            </a:r>
            <a:endParaRPr lang="en-IN" sz="4000" dirty="0"/>
          </a:p>
        </p:txBody>
      </p:sp>
      <p:sp>
        <p:nvSpPr>
          <p:cNvPr id="7" name="TextBox 6">
            <a:extLst>
              <a:ext uri="{FF2B5EF4-FFF2-40B4-BE49-F238E27FC236}">
                <a16:creationId xmlns:a16="http://schemas.microsoft.com/office/drawing/2014/main" id="{E07BF2C0-8AC1-0187-7088-7529F274D613}"/>
              </a:ext>
            </a:extLst>
          </p:cNvPr>
          <p:cNvSpPr txBox="1"/>
          <p:nvPr/>
        </p:nvSpPr>
        <p:spPr>
          <a:xfrm>
            <a:off x="688910" y="3713146"/>
            <a:ext cx="6097554" cy="579967"/>
          </a:xfrm>
          <a:prstGeom prst="rect">
            <a:avLst/>
          </a:prstGeom>
          <a:noFill/>
        </p:spPr>
        <p:txBody>
          <a:bodyPr wrap="square">
            <a:spAutoFit/>
          </a:bodyPr>
          <a:lstStyle/>
          <a:p>
            <a:pPr marL="0" indent="0" algn="just">
              <a:lnSpc>
                <a:spcPct val="150000"/>
              </a:lnSpc>
              <a:spcAft>
                <a:spcPts val="1500"/>
              </a:spcAft>
              <a:buNone/>
            </a:pPr>
            <a:r>
              <a:rPr lang="en-IN" sz="2400" b="1" dirty="0">
                <a:latin typeface="Times New Roman" panose="02020603050405020304" pitchFamily="18" charset="0"/>
                <a:cs typeface="Times New Roman" panose="02020603050405020304" pitchFamily="18" charset="0"/>
              </a:rPr>
              <a:t>Software </a:t>
            </a:r>
            <a:r>
              <a:rPr lang="en-IN" sz="2400" b="1" dirty="0" err="1">
                <a:latin typeface="Times New Roman" panose="02020603050405020304" pitchFamily="18" charset="0"/>
                <a:cs typeface="Times New Roman" panose="02020603050405020304" pitchFamily="18" charset="0"/>
              </a:rPr>
              <a:t>Requirments</a:t>
            </a:r>
            <a:r>
              <a:rPr lang="en-IN" sz="2400" b="1"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1DDC1467-9C24-CEA3-9686-A887476A8DA4}"/>
              </a:ext>
            </a:extLst>
          </p:cNvPr>
          <p:cNvSpPr txBox="1"/>
          <p:nvPr/>
        </p:nvSpPr>
        <p:spPr>
          <a:xfrm>
            <a:off x="688910" y="4642817"/>
            <a:ext cx="6097554" cy="707886"/>
          </a:xfrm>
          <a:prstGeom prst="rect">
            <a:avLst/>
          </a:prstGeom>
          <a:noFill/>
        </p:spPr>
        <p:txBody>
          <a:bodyPr wrap="square">
            <a:spAutoFit/>
          </a:bodyPr>
          <a:lstStyle/>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Operating system :  Windows.</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Coding Language :  python.</a:t>
            </a:r>
          </a:p>
        </p:txBody>
      </p:sp>
    </p:spTree>
    <p:extLst>
      <p:ext uri="{BB962C8B-B14F-4D97-AF65-F5344CB8AC3E}">
        <p14:creationId xmlns:p14="http://schemas.microsoft.com/office/powerpoint/2010/main" val="1646953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F2967-543E-F32C-DB5D-FC4139B0B05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Novelty:</a:t>
            </a:r>
            <a:endParaRPr lang="en-IN" dirty="0">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E951FD50-3399-B6F2-0C0F-B7F2345D108F}"/>
              </a:ext>
            </a:extLst>
          </p:cNvPr>
          <p:cNvSpPr>
            <a:spLocks noGrp="1" noChangeArrowheads="1"/>
          </p:cNvSpPr>
          <p:nvPr>
            <p:ph idx="1"/>
          </p:nvPr>
        </p:nvSpPr>
        <p:spPr bwMode="auto">
          <a:xfrm>
            <a:off x="838200" y="1603088"/>
            <a:ext cx="1051560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introduces a machine learning–based prediction system that analyzes student data such as marks, attendance, and assignment submissions to determine the academic risk level of each student. This helps in identifying students who may face learning difficulties in the future.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automatically detects students who are at high academic risk and sends email alerts to notify concerned users. This feature enables early intervention so that teachers can provide timely guidance and support to improve student performance.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platform continuously monitors important academic factors such as attendance, marks, and assignment submissions to provide a real-time view of student progress. This helps educators track performance trends and take quick action when necessary.</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integrates multiple academic management features such as study material sharing, assignment management, attendance tracking, messaging between students and faculty, and performance analysis in a single system, making it a complete student performance monitoring platform.</a:t>
            </a:r>
          </a:p>
        </p:txBody>
      </p:sp>
    </p:spTree>
    <p:extLst>
      <p:ext uri="{BB962C8B-B14F-4D97-AF65-F5344CB8AC3E}">
        <p14:creationId xmlns:p14="http://schemas.microsoft.com/office/powerpoint/2010/main" val="28775644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1CCCF-0091-8B99-948A-79FA61D4C396}"/>
              </a:ext>
            </a:extLst>
          </p:cNvPr>
          <p:cNvSpPr>
            <a:spLocks noGrp="1"/>
          </p:cNvSpPr>
          <p:nvPr>
            <p:ph type="title"/>
          </p:nvPr>
        </p:nvSpPr>
        <p:spPr/>
        <p:txBody>
          <a:bodyPr/>
          <a:lstStyle/>
          <a:p>
            <a:r>
              <a:rPr lang="en-US" dirty="0"/>
              <a:t>Architecture:</a:t>
            </a:r>
            <a:endParaRPr lang="en-IN" dirty="0"/>
          </a:p>
        </p:txBody>
      </p:sp>
      <p:pic>
        <p:nvPicPr>
          <p:cNvPr id="6" name="Content Placeholder 5">
            <a:extLst>
              <a:ext uri="{FF2B5EF4-FFF2-40B4-BE49-F238E27FC236}">
                <a16:creationId xmlns:a16="http://schemas.microsoft.com/office/drawing/2014/main" id="{54566BFB-3A59-D734-BCCA-C8BC20CF536F}"/>
              </a:ext>
            </a:extLst>
          </p:cNvPr>
          <p:cNvPicPr>
            <a:picLocks noGrp="1" noChangeAspect="1"/>
          </p:cNvPicPr>
          <p:nvPr>
            <p:ph idx="1"/>
          </p:nvPr>
        </p:nvPicPr>
        <p:blipFill>
          <a:blip r:embed="rId2"/>
          <a:stretch>
            <a:fillRect/>
          </a:stretch>
        </p:blipFill>
        <p:spPr>
          <a:xfrm>
            <a:off x="1287157" y="1690688"/>
            <a:ext cx="9004508" cy="4351338"/>
          </a:xfrm>
          <a:prstGeom prst="rect">
            <a:avLst/>
          </a:prstGeom>
        </p:spPr>
      </p:pic>
    </p:spTree>
    <p:extLst>
      <p:ext uri="{BB962C8B-B14F-4D97-AF65-F5344CB8AC3E}">
        <p14:creationId xmlns:p14="http://schemas.microsoft.com/office/powerpoint/2010/main" val="3694174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9C0A2-AFAF-7252-3530-7D4E58439B4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Modules:</a:t>
            </a:r>
            <a:endParaRPr lang="en-IN"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713109EF-8C65-889B-838E-78B363D853D3}"/>
              </a:ext>
            </a:extLst>
          </p:cNvPr>
          <p:cNvSpPr>
            <a:spLocks noGrp="1"/>
          </p:cNvSpPr>
          <p:nvPr>
            <p:ph idx="1"/>
          </p:nvPr>
        </p:nvSpPr>
        <p:spPr>
          <a:xfrm>
            <a:off x="838200" y="1558212"/>
            <a:ext cx="10515600" cy="4934663"/>
          </a:xfrm>
        </p:spPr>
        <p:txBody>
          <a:bodyPr>
            <a:normAutofit fontScale="55000" lnSpcReduction="20000"/>
          </a:bodyPr>
          <a:lstStyle/>
          <a:p>
            <a:r>
              <a:rPr lang="en-US" sz="3600" b="1" dirty="0">
                <a:latin typeface="Times New Roman" panose="02020603050405020304" pitchFamily="18" charset="0"/>
                <a:cs typeface="Times New Roman" panose="02020603050405020304" pitchFamily="18" charset="0"/>
              </a:rPr>
              <a:t>Admin Module</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The admin manages the system by adding faculty and students, viewing details, and monitoring overall student performance.</a:t>
            </a:r>
          </a:p>
          <a:p>
            <a:r>
              <a:rPr lang="en-US" sz="3600" b="1" dirty="0">
                <a:latin typeface="Times New Roman" panose="02020603050405020304" pitchFamily="18" charset="0"/>
                <a:cs typeface="Times New Roman" panose="02020603050405020304" pitchFamily="18" charset="0"/>
              </a:rPr>
              <a:t>Faculty Module</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Faculty members can add student marks, record attendance, create assignments, upload study materials, and communicate with students.</a:t>
            </a:r>
          </a:p>
          <a:p>
            <a:r>
              <a:rPr lang="en-US" sz="3600" b="1" dirty="0">
                <a:latin typeface="Times New Roman" panose="02020603050405020304" pitchFamily="18" charset="0"/>
                <a:cs typeface="Times New Roman" panose="02020603050405020304" pitchFamily="18" charset="0"/>
              </a:rPr>
              <a:t>Student Module</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Students can view their marks, check assignments, download study materials, send messages to faculty, and track their academic progress.</a:t>
            </a:r>
          </a:p>
          <a:p>
            <a:r>
              <a:rPr lang="en-US" sz="3600" b="1" dirty="0">
                <a:latin typeface="Times New Roman" panose="02020603050405020304" pitchFamily="18" charset="0"/>
                <a:cs typeface="Times New Roman" panose="02020603050405020304" pitchFamily="18" charset="0"/>
              </a:rPr>
              <a:t>Attendance and Marks Management Module</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This module records student attendance and marks, helping faculty maintain accurate academic records.</a:t>
            </a:r>
          </a:p>
          <a:p>
            <a:r>
              <a:rPr lang="en-US" sz="3600" b="1" dirty="0">
                <a:latin typeface="Times New Roman" panose="02020603050405020304" pitchFamily="18" charset="0"/>
                <a:cs typeface="Times New Roman" panose="02020603050405020304" pitchFamily="18" charset="0"/>
              </a:rPr>
              <a:t>Student Performance Prediction Module</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This module uses machine learning to analyze student data such as marks, attendance, and assignments to predict academic risk levels.</a:t>
            </a:r>
          </a:p>
          <a:p>
            <a:r>
              <a:rPr lang="en-US" sz="3600" b="1" dirty="0">
                <a:latin typeface="Times New Roman" panose="02020603050405020304" pitchFamily="18" charset="0"/>
                <a:cs typeface="Times New Roman" panose="02020603050405020304" pitchFamily="18" charset="0"/>
              </a:rPr>
              <a:t>Notification and Messaging Module</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The system allows communication between students and faculty and sends alerts when a student is identified as academically at risk.</a:t>
            </a:r>
          </a:p>
          <a:p>
            <a:endParaRPr lang="en-IN" dirty="0"/>
          </a:p>
        </p:txBody>
      </p:sp>
    </p:spTree>
    <p:extLst>
      <p:ext uri="{BB962C8B-B14F-4D97-AF65-F5344CB8AC3E}">
        <p14:creationId xmlns:p14="http://schemas.microsoft.com/office/powerpoint/2010/main" val="25687910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25CFD-3079-4EB7-0DFB-D463DE5DD957}"/>
              </a:ext>
            </a:extLst>
          </p:cNvPr>
          <p:cNvSpPr>
            <a:spLocks noGrp="1"/>
          </p:cNvSpPr>
          <p:nvPr>
            <p:ph type="title"/>
          </p:nvPr>
        </p:nvSpPr>
        <p:spPr>
          <a:xfrm>
            <a:off x="614265" y="225165"/>
            <a:ext cx="10515600" cy="1325563"/>
          </a:xfrm>
        </p:spPr>
        <p:txBody>
          <a:bodyPr/>
          <a:lstStyle/>
          <a:p>
            <a:r>
              <a:rPr lang="en-US" dirty="0"/>
              <a:t>UML Diagrams:</a:t>
            </a:r>
            <a:endParaRPr lang="en-IN" dirty="0"/>
          </a:p>
        </p:txBody>
      </p:sp>
      <p:sp>
        <p:nvSpPr>
          <p:cNvPr id="3" name="Content Placeholder 2">
            <a:extLst>
              <a:ext uri="{FF2B5EF4-FFF2-40B4-BE49-F238E27FC236}">
                <a16:creationId xmlns:a16="http://schemas.microsoft.com/office/drawing/2014/main" id="{C0A75B9D-145D-A23C-A44A-28D555F9BC71}"/>
              </a:ext>
            </a:extLst>
          </p:cNvPr>
          <p:cNvSpPr>
            <a:spLocks noGrp="1"/>
          </p:cNvSpPr>
          <p:nvPr>
            <p:ph idx="1"/>
          </p:nvPr>
        </p:nvSpPr>
        <p:spPr/>
        <p:txBody>
          <a:bodyPr/>
          <a:lstStyle/>
          <a:p>
            <a:r>
              <a:rPr lang="en-US" dirty="0"/>
              <a:t>Use Case Diagram:</a:t>
            </a:r>
            <a:endParaRPr lang="en-IN" dirty="0"/>
          </a:p>
        </p:txBody>
      </p:sp>
      <p:pic>
        <p:nvPicPr>
          <p:cNvPr id="5" name="Picture 4">
            <a:extLst>
              <a:ext uri="{FF2B5EF4-FFF2-40B4-BE49-F238E27FC236}">
                <a16:creationId xmlns:a16="http://schemas.microsoft.com/office/drawing/2014/main" id="{87EDFF5A-6AC4-ED58-A925-170E2776EBFB}"/>
              </a:ext>
            </a:extLst>
          </p:cNvPr>
          <p:cNvPicPr>
            <a:picLocks noChangeAspect="1"/>
          </p:cNvPicPr>
          <p:nvPr/>
        </p:nvPicPr>
        <p:blipFill>
          <a:blip r:embed="rId2"/>
          <a:stretch>
            <a:fillRect/>
          </a:stretch>
        </p:blipFill>
        <p:spPr>
          <a:xfrm>
            <a:off x="3641211" y="2382778"/>
            <a:ext cx="5782708" cy="4069082"/>
          </a:xfrm>
          <a:prstGeom prst="rect">
            <a:avLst/>
          </a:prstGeom>
        </p:spPr>
      </p:pic>
    </p:spTree>
    <p:extLst>
      <p:ext uri="{BB962C8B-B14F-4D97-AF65-F5344CB8AC3E}">
        <p14:creationId xmlns:p14="http://schemas.microsoft.com/office/powerpoint/2010/main" val="1502188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45E7E-E78D-BA91-15D6-C26467BB9642}"/>
              </a:ext>
            </a:extLst>
          </p:cNvPr>
          <p:cNvSpPr>
            <a:spLocks noGrp="1"/>
          </p:cNvSpPr>
          <p:nvPr>
            <p:ph type="title"/>
          </p:nvPr>
        </p:nvSpPr>
        <p:spPr/>
        <p:txBody>
          <a:bodyPr/>
          <a:lstStyle/>
          <a:p>
            <a:r>
              <a:rPr lang="en-US" dirty="0"/>
              <a:t>Class Diagram:</a:t>
            </a:r>
            <a:endParaRPr lang="en-IN" dirty="0"/>
          </a:p>
        </p:txBody>
      </p:sp>
      <p:pic>
        <p:nvPicPr>
          <p:cNvPr id="7" name="Content Placeholder 6">
            <a:extLst>
              <a:ext uri="{FF2B5EF4-FFF2-40B4-BE49-F238E27FC236}">
                <a16:creationId xmlns:a16="http://schemas.microsoft.com/office/drawing/2014/main" id="{03C98A2A-D1B5-885C-7411-FB73B45B28A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44547" y="1821568"/>
            <a:ext cx="7720313" cy="4405612"/>
          </a:xfrm>
          <a:prstGeom prst="rect">
            <a:avLst/>
          </a:prstGeom>
        </p:spPr>
      </p:pic>
    </p:spTree>
    <p:extLst>
      <p:ext uri="{BB962C8B-B14F-4D97-AF65-F5344CB8AC3E}">
        <p14:creationId xmlns:p14="http://schemas.microsoft.com/office/powerpoint/2010/main" val="2615025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5563D-0D36-E324-290E-5242A5B4C0D7}"/>
              </a:ext>
            </a:extLst>
          </p:cNvPr>
          <p:cNvSpPr>
            <a:spLocks noGrp="1"/>
          </p:cNvSpPr>
          <p:nvPr>
            <p:ph type="title"/>
          </p:nvPr>
        </p:nvSpPr>
        <p:spPr/>
        <p:txBody>
          <a:bodyPr/>
          <a:lstStyle/>
          <a:p>
            <a:r>
              <a:rPr lang="en-US" dirty="0"/>
              <a:t>Sequence Diagram:</a:t>
            </a:r>
            <a:endParaRPr lang="en-IN" dirty="0"/>
          </a:p>
        </p:txBody>
      </p:sp>
      <p:pic>
        <p:nvPicPr>
          <p:cNvPr id="10" name="Content Placeholder 9">
            <a:extLst>
              <a:ext uri="{FF2B5EF4-FFF2-40B4-BE49-F238E27FC236}">
                <a16:creationId xmlns:a16="http://schemas.microsoft.com/office/drawing/2014/main" id="{3A79B714-13F7-99F2-5D1E-604E6F554428}"/>
              </a:ext>
            </a:extLst>
          </p:cNvPr>
          <p:cNvPicPr>
            <a:picLocks noGrp="1" noChangeAspect="1"/>
          </p:cNvPicPr>
          <p:nvPr>
            <p:ph idx="1"/>
          </p:nvPr>
        </p:nvPicPr>
        <p:blipFill>
          <a:blip r:embed="rId2"/>
          <a:stretch>
            <a:fillRect/>
          </a:stretch>
        </p:blipFill>
        <p:spPr>
          <a:xfrm>
            <a:off x="1498186" y="1760309"/>
            <a:ext cx="8896116" cy="4732565"/>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3">
            <p14:nvContentPartPr>
              <p14:cNvPr id="18" name="Ink 17">
                <a:extLst>
                  <a:ext uri="{FF2B5EF4-FFF2-40B4-BE49-F238E27FC236}">
                    <a16:creationId xmlns:a16="http://schemas.microsoft.com/office/drawing/2014/main" id="{E2A1E704-4B3C-4C7D-9F65-DBC57E2F667E}"/>
                  </a:ext>
                </a:extLst>
              </p14:cNvPr>
              <p14:cNvContentPartPr/>
              <p14:nvPr/>
            </p14:nvContentPartPr>
            <p14:xfrm>
              <a:off x="2425768" y="5862710"/>
              <a:ext cx="292320" cy="156240"/>
            </p14:xfrm>
          </p:contentPart>
        </mc:Choice>
        <mc:Fallback xmlns="">
          <p:pic>
            <p:nvPicPr>
              <p:cNvPr id="18" name="Ink 17">
                <a:extLst>
                  <a:ext uri="{FF2B5EF4-FFF2-40B4-BE49-F238E27FC236}">
                    <a16:creationId xmlns:a16="http://schemas.microsoft.com/office/drawing/2014/main" id="{E2A1E704-4B3C-4C7D-9F65-DBC57E2F667E}"/>
                  </a:ext>
                </a:extLst>
              </p:cNvPr>
              <p:cNvPicPr/>
              <p:nvPr/>
            </p:nvPicPr>
            <p:blipFill>
              <a:blip r:embed="rId4"/>
              <a:stretch>
                <a:fillRect/>
              </a:stretch>
            </p:blipFill>
            <p:spPr>
              <a:xfrm>
                <a:off x="2416768" y="5808710"/>
                <a:ext cx="309960" cy="263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19" name="Ink 18">
                <a:extLst>
                  <a:ext uri="{FF2B5EF4-FFF2-40B4-BE49-F238E27FC236}">
                    <a16:creationId xmlns:a16="http://schemas.microsoft.com/office/drawing/2014/main" id="{6270A1D6-24DA-C619-B4F2-61EEA2AEE7DF}"/>
                  </a:ext>
                </a:extLst>
              </p14:cNvPr>
              <p14:cNvContentPartPr/>
              <p14:nvPr/>
            </p14:nvContentPartPr>
            <p14:xfrm>
              <a:off x="5066368" y="5876390"/>
              <a:ext cx="268920" cy="215640"/>
            </p14:xfrm>
          </p:contentPart>
        </mc:Choice>
        <mc:Fallback xmlns="">
          <p:pic>
            <p:nvPicPr>
              <p:cNvPr id="19" name="Ink 18">
                <a:extLst>
                  <a:ext uri="{FF2B5EF4-FFF2-40B4-BE49-F238E27FC236}">
                    <a16:creationId xmlns:a16="http://schemas.microsoft.com/office/drawing/2014/main" id="{6270A1D6-24DA-C619-B4F2-61EEA2AEE7DF}"/>
                  </a:ext>
                </a:extLst>
              </p:cNvPr>
              <p:cNvPicPr/>
              <p:nvPr/>
            </p:nvPicPr>
            <p:blipFill>
              <a:blip r:embed="rId6"/>
              <a:stretch>
                <a:fillRect/>
              </a:stretch>
            </p:blipFill>
            <p:spPr>
              <a:xfrm>
                <a:off x="5057368" y="5822750"/>
                <a:ext cx="286560" cy="323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21" name="Ink 20">
                <a:extLst>
                  <a:ext uri="{FF2B5EF4-FFF2-40B4-BE49-F238E27FC236}">
                    <a16:creationId xmlns:a16="http://schemas.microsoft.com/office/drawing/2014/main" id="{F94CF4DE-B326-0482-30B3-98270AEA4B9A}"/>
                  </a:ext>
                </a:extLst>
              </p14:cNvPr>
              <p14:cNvContentPartPr/>
              <p14:nvPr/>
            </p14:nvContentPartPr>
            <p14:xfrm>
              <a:off x="7259128" y="5934350"/>
              <a:ext cx="153000" cy="128160"/>
            </p14:xfrm>
          </p:contentPart>
        </mc:Choice>
        <mc:Fallback xmlns="">
          <p:pic>
            <p:nvPicPr>
              <p:cNvPr id="21" name="Ink 20">
                <a:extLst>
                  <a:ext uri="{FF2B5EF4-FFF2-40B4-BE49-F238E27FC236}">
                    <a16:creationId xmlns:a16="http://schemas.microsoft.com/office/drawing/2014/main" id="{F94CF4DE-B326-0482-30B3-98270AEA4B9A}"/>
                  </a:ext>
                </a:extLst>
              </p:cNvPr>
              <p:cNvPicPr/>
              <p:nvPr/>
            </p:nvPicPr>
            <p:blipFill>
              <a:blip r:embed="rId8"/>
              <a:stretch>
                <a:fillRect/>
              </a:stretch>
            </p:blipFill>
            <p:spPr>
              <a:xfrm>
                <a:off x="7250488" y="5880350"/>
                <a:ext cx="170640" cy="2358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22" name="Ink 21">
                <a:extLst>
                  <a:ext uri="{FF2B5EF4-FFF2-40B4-BE49-F238E27FC236}">
                    <a16:creationId xmlns:a16="http://schemas.microsoft.com/office/drawing/2014/main" id="{CEC099BF-D136-E5D8-107C-87F4E2C0122D}"/>
                  </a:ext>
                </a:extLst>
              </p14:cNvPr>
              <p14:cNvContentPartPr/>
              <p14:nvPr/>
            </p14:nvContentPartPr>
            <p14:xfrm>
              <a:off x="9227968" y="5905910"/>
              <a:ext cx="207000" cy="156960"/>
            </p14:xfrm>
          </p:contentPart>
        </mc:Choice>
        <mc:Fallback xmlns="">
          <p:pic>
            <p:nvPicPr>
              <p:cNvPr id="22" name="Ink 21">
                <a:extLst>
                  <a:ext uri="{FF2B5EF4-FFF2-40B4-BE49-F238E27FC236}">
                    <a16:creationId xmlns:a16="http://schemas.microsoft.com/office/drawing/2014/main" id="{CEC099BF-D136-E5D8-107C-87F4E2C0122D}"/>
                  </a:ext>
                </a:extLst>
              </p:cNvPr>
              <p:cNvPicPr/>
              <p:nvPr/>
            </p:nvPicPr>
            <p:blipFill>
              <a:blip r:embed="rId10"/>
              <a:stretch>
                <a:fillRect/>
              </a:stretch>
            </p:blipFill>
            <p:spPr>
              <a:xfrm>
                <a:off x="9218968" y="5851910"/>
                <a:ext cx="224640" cy="2646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23" name="Ink 22">
                <a:extLst>
                  <a:ext uri="{FF2B5EF4-FFF2-40B4-BE49-F238E27FC236}">
                    <a16:creationId xmlns:a16="http://schemas.microsoft.com/office/drawing/2014/main" id="{F12A0DB5-D93B-EFE3-D182-F1061DF37277}"/>
                  </a:ext>
                </a:extLst>
              </p14:cNvPr>
              <p14:cNvContentPartPr/>
              <p14:nvPr/>
            </p14:nvContentPartPr>
            <p14:xfrm>
              <a:off x="-821432" y="4273310"/>
              <a:ext cx="360" cy="360"/>
            </p14:xfrm>
          </p:contentPart>
        </mc:Choice>
        <mc:Fallback xmlns="">
          <p:pic>
            <p:nvPicPr>
              <p:cNvPr id="23" name="Ink 22">
                <a:extLst>
                  <a:ext uri="{FF2B5EF4-FFF2-40B4-BE49-F238E27FC236}">
                    <a16:creationId xmlns:a16="http://schemas.microsoft.com/office/drawing/2014/main" id="{F12A0DB5-D93B-EFE3-D182-F1061DF37277}"/>
                  </a:ext>
                </a:extLst>
              </p:cNvPr>
              <p:cNvPicPr/>
              <p:nvPr/>
            </p:nvPicPr>
            <p:blipFill>
              <a:blip r:embed="rId12"/>
              <a:stretch>
                <a:fillRect/>
              </a:stretch>
            </p:blipFill>
            <p:spPr>
              <a:xfrm>
                <a:off x="-830072" y="4219670"/>
                <a:ext cx="18000" cy="10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24" name="Ink 23">
                <a:extLst>
                  <a:ext uri="{FF2B5EF4-FFF2-40B4-BE49-F238E27FC236}">
                    <a16:creationId xmlns:a16="http://schemas.microsoft.com/office/drawing/2014/main" id="{92346401-4E0D-D41B-0C6C-84A593F945A6}"/>
                  </a:ext>
                </a:extLst>
              </p14:cNvPr>
              <p14:cNvContentPartPr/>
              <p14:nvPr/>
            </p14:nvContentPartPr>
            <p14:xfrm>
              <a:off x="-765272" y="2696481"/>
              <a:ext cx="360" cy="360"/>
            </p14:xfrm>
          </p:contentPart>
        </mc:Choice>
        <mc:Fallback xmlns="">
          <p:pic>
            <p:nvPicPr>
              <p:cNvPr id="24" name="Ink 23">
                <a:extLst>
                  <a:ext uri="{FF2B5EF4-FFF2-40B4-BE49-F238E27FC236}">
                    <a16:creationId xmlns:a16="http://schemas.microsoft.com/office/drawing/2014/main" id="{92346401-4E0D-D41B-0C6C-84A593F945A6}"/>
                  </a:ext>
                </a:extLst>
              </p:cNvPr>
              <p:cNvPicPr/>
              <p:nvPr/>
            </p:nvPicPr>
            <p:blipFill>
              <a:blip r:embed="rId14"/>
              <a:stretch>
                <a:fillRect/>
              </a:stretch>
            </p:blipFill>
            <p:spPr>
              <a:xfrm>
                <a:off x="-774272" y="2642841"/>
                <a:ext cx="18000" cy="108000"/>
              </a:xfrm>
              <a:prstGeom prst="rect">
                <a:avLst/>
              </a:prstGeom>
            </p:spPr>
          </p:pic>
        </mc:Fallback>
      </mc:AlternateContent>
    </p:spTree>
    <p:extLst>
      <p:ext uri="{BB962C8B-B14F-4D97-AF65-F5344CB8AC3E}">
        <p14:creationId xmlns:p14="http://schemas.microsoft.com/office/powerpoint/2010/main" val="2143409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F58AC-B41E-5A6F-C1F1-C4A0F60A6028}"/>
              </a:ext>
            </a:extLst>
          </p:cNvPr>
          <p:cNvSpPr>
            <a:spLocks noGrp="1"/>
          </p:cNvSpPr>
          <p:nvPr>
            <p:ph type="title"/>
          </p:nvPr>
        </p:nvSpPr>
        <p:spPr>
          <a:xfrm>
            <a:off x="411351" y="-92075"/>
            <a:ext cx="10515600" cy="1325563"/>
          </a:xfrm>
        </p:spPr>
        <p:txBody>
          <a:bodyPr/>
          <a:lstStyle/>
          <a:p>
            <a:r>
              <a:rPr lang="en-US" dirty="0"/>
              <a:t>SOURCE CODE</a:t>
            </a:r>
          </a:p>
        </p:txBody>
      </p:sp>
      <p:sp>
        <p:nvSpPr>
          <p:cNvPr id="3" name="Content Placeholder 2">
            <a:extLst>
              <a:ext uri="{FF2B5EF4-FFF2-40B4-BE49-F238E27FC236}">
                <a16:creationId xmlns:a16="http://schemas.microsoft.com/office/drawing/2014/main" id="{5C37D841-786C-6B2E-0A73-3C3A2CC22270}"/>
              </a:ext>
            </a:extLst>
          </p:cNvPr>
          <p:cNvSpPr>
            <a:spLocks noGrp="1"/>
          </p:cNvSpPr>
          <p:nvPr>
            <p:ph idx="1"/>
          </p:nvPr>
        </p:nvSpPr>
        <p:spPr>
          <a:xfrm>
            <a:off x="838200" y="887977"/>
            <a:ext cx="9661902" cy="2676633"/>
          </a:xfrm>
        </p:spPr>
        <p:txBody>
          <a:bodyPr>
            <a:normAutofit fontScale="25000" lnSpcReduction="20000"/>
          </a:bodyPr>
          <a:lstStyle/>
          <a:p>
            <a:r>
              <a:rPr lang="en-US" dirty="0"/>
              <a:t>from </a:t>
            </a:r>
            <a:r>
              <a:rPr lang="en-US" dirty="0" err="1"/>
              <a:t>django.shortcuts</a:t>
            </a:r>
            <a:r>
              <a:rPr lang="en-US" dirty="0"/>
              <a:t> import render</a:t>
            </a:r>
          </a:p>
          <a:p>
            <a:r>
              <a:rPr lang="en-US" dirty="0"/>
              <a:t>from </a:t>
            </a:r>
            <a:r>
              <a:rPr lang="en-US" dirty="0" err="1"/>
              <a:t>django.http</a:t>
            </a:r>
            <a:r>
              <a:rPr lang="en-US" dirty="0"/>
              <a:t> import </a:t>
            </a:r>
            <a:r>
              <a:rPr lang="en-US" dirty="0" err="1"/>
              <a:t>HttpResponse</a:t>
            </a:r>
            <a:endParaRPr lang="en-US" dirty="0"/>
          </a:p>
          <a:p>
            <a:r>
              <a:rPr lang="en-US" dirty="0"/>
              <a:t>import </a:t>
            </a:r>
            <a:r>
              <a:rPr lang="en-US" dirty="0" err="1"/>
              <a:t>pymysql</a:t>
            </a:r>
            <a:endParaRPr lang="en-US" dirty="0"/>
          </a:p>
          <a:p>
            <a:r>
              <a:rPr lang="en-US" dirty="0"/>
              <a:t>from datetime import datetime</a:t>
            </a:r>
          </a:p>
          <a:p>
            <a:endParaRPr lang="en-US" dirty="0"/>
          </a:p>
          <a:p>
            <a:r>
              <a:rPr lang="en-US" dirty="0"/>
              <a:t>def </a:t>
            </a:r>
            <a:r>
              <a:rPr lang="en-US" dirty="0" err="1"/>
              <a:t>db</a:t>
            </a:r>
            <a:r>
              <a:rPr lang="en-US" dirty="0"/>
              <a:t>():</a:t>
            </a:r>
          </a:p>
          <a:p>
            <a:r>
              <a:rPr lang="en-US" dirty="0"/>
              <a:t>    return </a:t>
            </a:r>
            <a:r>
              <a:rPr lang="en-US" dirty="0" err="1"/>
              <a:t>pymysql.connect</a:t>
            </a:r>
            <a:r>
              <a:rPr lang="en-US" dirty="0"/>
              <a:t>(host='127.0.0.1',user='</a:t>
            </a:r>
            <a:r>
              <a:rPr lang="en-US" dirty="0" err="1"/>
              <a:t>root',password</a:t>
            </a:r>
            <a:r>
              <a:rPr lang="en-US" dirty="0"/>
              <a:t>='',database='</a:t>
            </a:r>
            <a:r>
              <a:rPr lang="en-US" dirty="0" err="1"/>
              <a:t>studentapp</a:t>
            </a:r>
            <a:r>
              <a:rPr lang="en-US" dirty="0"/>
              <a:t>')</a:t>
            </a:r>
          </a:p>
          <a:p>
            <a:endParaRPr lang="en-US" dirty="0"/>
          </a:p>
          <a:p>
            <a:r>
              <a:rPr lang="en-US" dirty="0"/>
              <a:t>def </a:t>
            </a:r>
            <a:r>
              <a:rPr lang="en-US" dirty="0" err="1"/>
              <a:t>StudentLoginAction</a:t>
            </a:r>
            <a:r>
              <a:rPr lang="en-US" dirty="0"/>
              <a:t>(request):</a:t>
            </a:r>
          </a:p>
          <a:p>
            <a:r>
              <a:rPr lang="en-US" dirty="0"/>
              <a:t>    </a:t>
            </a:r>
            <a:r>
              <a:rPr lang="en-US" dirty="0" err="1"/>
              <a:t>u,p</a:t>
            </a:r>
            <a:r>
              <a:rPr lang="en-US" dirty="0"/>
              <a:t>=</a:t>
            </a:r>
            <a:r>
              <a:rPr lang="en-US" dirty="0" err="1"/>
              <a:t>request.POST</a:t>
            </a:r>
            <a:r>
              <a:rPr lang="en-US" dirty="0"/>
              <a:t>['t1'],</a:t>
            </a:r>
            <a:r>
              <a:rPr lang="en-US" dirty="0" err="1"/>
              <a:t>request.POST</a:t>
            </a:r>
            <a:r>
              <a:rPr lang="en-US" dirty="0"/>
              <a:t>['t2']</a:t>
            </a:r>
          </a:p>
          <a:p>
            <a:r>
              <a:rPr lang="en-US" dirty="0"/>
              <a:t>    c=</a:t>
            </a:r>
            <a:r>
              <a:rPr lang="en-US" dirty="0" err="1"/>
              <a:t>db</a:t>
            </a:r>
            <a:r>
              <a:rPr lang="en-US" dirty="0"/>
              <a:t>().cursor()</a:t>
            </a:r>
          </a:p>
          <a:p>
            <a:r>
              <a:rPr lang="en-US" dirty="0"/>
              <a:t>    </a:t>
            </a:r>
            <a:r>
              <a:rPr lang="en-US" dirty="0" err="1"/>
              <a:t>c.execute</a:t>
            </a:r>
            <a:r>
              <a:rPr lang="en-US" dirty="0"/>
              <a:t>("SELECT * FROM student WHERE username=%s AND password=%s",(</a:t>
            </a:r>
            <a:r>
              <a:rPr lang="en-US" dirty="0" err="1"/>
              <a:t>u,p</a:t>
            </a:r>
            <a:r>
              <a:rPr lang="en-US" dirty="0"/>
              <a:t>))</a:t>
            </a:r>
          </a:p>
          <a:p>
            <a:r>
              <a:rPr lang="en-US" dirty="0"/>
              <a:t>    if </a:t>
            </a:r>
            <a:r>
              <a:rPr lang="en-US" dirty="0" err="1"/>
              <a:t>c.fetchone</a:t>
            </a:r>
            <a:r>
              <a:rPr lang="en-US" dirty="0"/>
              <a:t>():</a:t>
            </a:r>
          </a:p>
          <a:p>
            <a:r>
              <a:rPr lang="en-US" dirty="0"/>
              <a:t>        </a:t>
            </a:r>
            <a:r>
              <a:rPr lang="en-US" dirty="0" err="1"/>
              <a:t>request.session</a:t>
            </a:r>
            <a:r>
              <a:rPr lang="en-US" dirty="0"/>
              <a:t>['</a:t>
            </a:r>
            <a:r>
              <a:rPr lang="en-US" dirty="0" err="1"/>
              <a:t>uname</a:t>
            </a:r>
            <a:r>
              <a:rPr lang="en-US" dirty="0"/>
              <a:t>']=u</a:t>
            </a:r>
          </a:p>
          <a:p>
            <a:r>
              <a:rPr lang="en-US" dirty="0"/>
              <a:t>        return render(request,'StudentScreen.html',{'</a:t>
            </a:r>
            <a:r>
              <a:rPr lang="en-US" dirty="0" err="1"/>
              <a:t>data':'Welcome</a:t>
            </a:r>
            <a:r>
              <a:rPr lang="en-US" dirty="0"/>
              <a:t> '+u})</a:t>
            </a:r>
          </a:p>
          <a:p>
            <a:r>
              <a:rPr lang="en-US" dirty="0"/>
              <a:t>    return render(request,'StudentLogin.html')</a:t>
            </a:r>
          </a:p>
          <a:p>
            <a:endParaRPr lang="en-US" dirty="0"/>
          </a:p>
          <a:p>
            <a:r>
              <a:rPr lang="en-US" dirty="0"/>
              <a:t>def </a:t>
            </a:r>
            <a:r>
              <a:rPr lang="en-US" dirty="0" err="1"/>
              <a:t>FacultyLoginAction</a:t>
            </a:r>
            <a:r>
              <a:rPr lang="en-US" dirty="0"/>
              <a:t>(request):</a:t>
            </a:r>
          </a:p>
          <a:p>
            <a:r>
              <a:rPr lang="en-US" dirty="0"/>
              <a:t>    </a:t>
            </a:r>
            <a:r>
              <a:rPr lang="en-US" dirty="0" err="1"/>
              <a:t>u,p</a:t>
            </a:r>
            <a:r>
              <a:rPr lang="en-US" dirty="0"/>
              <a:t>=</a:t>
            </a:r>
            <a:r>
              <a:rPr lang="en-US" dirty="0" err="1"/>
              <a:t>request.POST</a:t>
            </a:r>
            <a:r>
              <a:rPr lang="en-US" dirty="0"/>
              <a:t>['t1'],</a:t>
            </a:r>
            <a:r>
              <a:rPr lang="en-US" dirty="0" err="1"/>
              <a:t>request.POST</a:t>
            </a:r>
            <a:r>
              <a:rPr lang="en-US" dirty="0"/>
              <a:t>['t2']</a:t>
            </a:r>
          </a:p>
          <a:p>
            <a:r>
              <a:rPr lang="en-US" dirty="0"/>
              <a:t>    c=</a:t>
            </a:r>
            <a:r>
              <a:rPr lang="en-US" dirty="0" err="1"/>
              <a:t>db</a:t>
            </a:r>
            <a:r>
              <a:rPr lang="en-US" dirty="0"/>
              <a:t>().cursor()</a:t>
            </a:r>
          </a:p>
          <a:p>
            <a:r>
              <a:rPr lang="en-US" dirty="0"/>
              <a:t>    </a:t>
            </a:r>
            <a:r>
              <a:rPr lang="en-US" dirty="0" err="1"/>
              <a:t>c.execute</a:t>
            </a:r>
            <a:r>
              <a:rPr lang="en-US" dirty="0"/>
              <a:t>("SELECT * FROM faculty WHERE username=%s AND password=%s",(</a:t>
            </a:r>
            <a:r>
              <a:rPr lang="en-US" dirty="0" err="1"/>
              <a:t>u,p</a:t>
            </a:r>
            <a:r>
              <a:rPr lang="en-US" dirty="0"/>
              <a:t>))</a:t>
            </a:r>
          </a:p>
          <a:p>
            <a:r>
              <a:rPr lang="en-US" dirty="0"/>
              <a:t>    if </a:t>
            </a:r>
            <a:r>
              <a:rPr lang="en-US" dirty="0" err="1"/>
              <a:t>c.fetchone</a:t>
            </a:r>
            <a:r>
              <a:rPr lang="en-US" dirty="0"/>
              <a:t>():</a:t>
            </a:r>
          </a:p>
          <a:p>
            <a:r>
              <a:rPr lang="en-US" dirty="0"/>
              <a:t>        </a:t>
            </a:r>
            <a:r>
              <a:rPr lang="en-US" dirty="0" err="1"/>
              <a:t>request.session</a:t>
            </a:r>
            <a:r>
              <a:rPr lang="en-US" dirty="0"/>
              <a:t>['</a:t>
            </a:r>
            <a:r>
              <a:rPr lang="en-US" dirty="0" err="1"/>
              <a:t>uname</a:t>
            </a:r>
            <a:r>
              <a:rPr lang="en-US" dirty="0"/>
              <a:t>']=u</a:t>
            </a:r>
          </a:p>
          <a:p>
            <a:r>
              <a:rPr lang="en-US" dirty="0"/>
              <a:t>        return render(request,'FacultyScreen.html')</a:t>
            </a:r>
          </a:p>
          <a:p>
            <a:r>
              <a:rPr lang="en-US" dirty="0"/>
              <a:t>    return render(request,'FacultyLogin.html')</a:t>
            </a:r>
          </a:p>
          <a:p>
            <a:endParaRPr lang="en-US" dirty="0"/>
          </a:p>
          <a:p>
            <a:r>
              <a:rPr lang="en-US" dirty="0"/>
              <a:t>def </a:t>
            </a:r>
            <a:r>
              <a:rPr lang="en-US" dirty="0" err="1"/>
              <a:t>AdminLoginAction</a:t>
            </a:r>
            <a:r>
              <a:rPr lang="en-US" dirty="0"/>
              <a:t>(request):</a:t>
            </a:r>
          </a:p>
          <a:p>
            <a:r>
              <a:rPr lang="en-US" dirty="0"/>
              <a:t>    if </a:t>
            </a:r>
            <a:r>
              <a:rPr lang="en-US" dirty="0" err="1"/>
              <a:t>request.POST</a:t>
            </a:r>
            <a:r>
              <a:rPr lang="en-US" dirty="0"/>
              <a:t>['t1']=='admin' and </a:t>
            </a:r>
            <a:r>
              <a:rPr lang="en-US" dirty="0" err="1"/>
              <a:t>request.POST</a:t>
            </a:r>
            <a:r>
              <a:rPr lang="en-US" dirty="0"/>
              <a:t>['t2']=='admin':</a:t>
            </a:r>
          </a:p>
          <a:p>
            <a:r>
              <a:rPr lang="en-US" dirty="0"/>
              <a:t>        return render(request,'AdminScreen.html')</a:t>
            </a:r>
          </a:p>
        </p:txBody>
      </p:sp>
    </p:spTree>
    <p:extLst>
      <p:ext uri="{BB962C8B-B14F-4D97-AF65-F5344CB8AC3E}">
        <p14:creationId xmlns:p14="http://schemas.microsoft.com/office/powerpoint/2010/main" val="8499289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462FD8-D614-77FF-7E96-5DA7451943FC}"/>
              </a:ext>
            </a:extLst>
          </p:cNvPr>
          <p:cNvSpPr>
            <a:spLocks noGrp="1"/>
          </p:cNvSpPr>
          <p:nvPr>
            <p:ph idx="1"/>
          </p:nvPr>
        </p:nvSpPr>
        <p:spPr>
          <a:xfrm>
            <a:off x="776207" y="663252"/>
            <a:ext cx="10515600" cy="4351338"/>
          </a:xfrm>
        </p:spPr>
        <p:txBody>
          <a:bodyPr>
            <a:normAutofit fontScale="25000" lnSpcReduction="20000"/>
          </a:bodyPr>
          <a:lstStyle/>
          <a:p>
            <a:r>
              <a:rPr lang="en-US" dirty="0"/>
              <a:t>def </a:t>
            </a:r>
            <a:r>
              <a:rPr lang="en-US" dirty="0" err="1"/>
              <a:t>ViewMarksAction</a:t>
            </a:r>
            <a:r>
              <a:rPr lang="en-US" dirty="0"/>
              <a:t>(request):</a:t>
            </a:r>
          </a:p>
          <a:p>
            <a:r>
              <a:rPr lang="en-US" dirty="0"/>
              <a:t>    u=</a:t>
            </a:r>
            <a:r>
              <a:rPr lang="en-US" dirty="0" err="1"/>
              <a:t>request.session.get</a:t>
            </a:r>
            <a:r>
              <a:rPr lang="en-US" dirty="0"/>
              <a:t>('</a:t>
            </a:r>
            <a:r>
              <a:rPr lang="en-US" dirty="0" err="1"/>
              <a:t>uname</a:t>
            </a:r>
            <a:r>
              <a:rPr lang="en-US" dirty="0"/>
              <a:t>')</a:t>
            </a:r>
          </a:p>
          <a:p>
            <a:r>
              <a:rPr lang="en-US" dirty="0"/>
              <a:t>    c=</a:t>
            </a:r>
            <a:r>
              <a:rPr lang="en-US" dirty="0" err="1"/>
              <a:t>db</a:t>
            </a:r>
            <a:r>
              <a:rPr lang="en-US" dirty="0"/>
              <a:t>().cursor()</a:t>
            </a:r>
          </a:p>
          <a:p>
            <a:r>
              <a:rPr lang="en-US" dirty="0"/>
              <a:t>    </a:t>
            </a:r>
            <a:r>
              <a:rPr lang="en-US" dirty="0" err="1"/>
              <a:t>c.execute</a:t>
            </a:r>
            <a:r>
              <a:rPr lang="en-US" dirty="0"/>
              <a:t>("SELECT </a:t>
            </a:r>
            <a:r>
              <a:rPr lang="en-US" dirty="0" err="1"/>
              <a:t>subject_name,subject_marks</a:t>
            </a:r>
            <a:r>
              <a:rPr lang="en-US" dirty="0"/>
              <a:t> FROM marks WHERE </a:t>
            </a:r>
            <a:r>
              <a:rPr lang="en-US" dirty="0" err="1"/>
              <a:t>student_name</a:t>
            </a:r>
            <a:r>
              <a:rPr lang="en-US" dirty="0"/>
              <a:t>=%s",(u,))</a:t>
            </a:r>
          </a:p>
          <a:p>
            <a:r>
              <a:rPr lang="en-US" dirty="0"/>
              <a:t>    rows=</a:t>
            </a:r>
            <a:r>
              <a:rPr lang="en-US" dirty="0" err="1"/>
              <a:t>c.fetchall</a:t>
            </a:r>
            <a:r>
              <a:rPr lang="en-US" dirty="0"/>
              <a:t>()</a:t>
            </a:r>
          </a:p>
          <a:p>
            <a:r>
              <a:rPr lang="en-US" dirty="0"/>
              <a:t>    total=sum(r[1] for r in rows)</a:t>
            </a:r>
          </a:p>
          <a:p>
            <a:r>
              <a:rPr lang="en-US" dirty="0"/>
              <a:t>    avg=total/</a:t>
            </a:r>
            <a:r>
              <a:rPr lang="en-US" dirty="0" err="1"/>
              <a:t>len</a:t>
            </a:r>
            <a:r>
              <a:rPr lang="en-US" dirty="0"/>
              <a:t>(rows) if rows else 0</a:t>
            </a:r>
          </a:p>
          <a:p>
            <a:r>
              <a:rPr lang="en-US" dirty="0"/>
              <a:t>    return render(request,'StudentScreen.html',{'</a:t>
            </a:r>
            <a:r>
              <a:rPr lang="en-US" dirty="0" err="1"/>
              <a:t>data':avg</a:t>
            </a:r>
            <a:r>
              <a:rPr lang="en-US" dirty="0"/>
              <a:t>})</a:t>
            </a:r>
          </a:p>
          <a:p>
            <a:endParaRPr lang="en-US" dirty="0"/>
          </a:p>
          <a:p>
            <a:r>
              <a:rPr lang="en-US" dirty="0"/>
              <a:t>def </a:t>
            </a:r>
            <a:r>
              <a:rPr lang="en-US" dirty="0" err="1"/>
              <a:t>AddMarksAction</a:t>
            </a:r>
            <a:r>
              <a:rPr lang="en-US" dirty="0"/>
              <a:t>(request):</a:t>
            </a:r>
          </a:p>
          <a:p>
            <a:r>
              <a:rPr lang="en-US" dirty="0"/>
              <a:t>    u=</a:t>
            </a:r>
            <a:r>
              <a:rPr lang="en-US" dirty="0" err="1"/>
              <a:t>request.session.get</a:t>
            </a:r>
            <a:r>
              <a:rPr lang="en-US" dirty="0"/>
              <a:t>('</a:t>
            </a:r>
            <a:r>
              <a:rPr lang="en-US" dirty="0" err="1"/>
              <a:t>uname</a:t>
            </a:r>
            <a:r>
              <a:rPr lang="en-US" dirty="0"/>
              <a:t>')</a:t>
            </a:r>
          </a:p>
          <a:p>
            <a:r>
              <a:rPr lang="en-US" dirty="0"/>
              <a:t>    d=(</a:t>
            </a:r>
            <a:r>
              <a:rPr lang="en-US" dirty="0" err="1"/>
              <a:t>request.POST</a:t>
            </a:r>
            <a:r>
              <a:rPr lang="en-US" dirty="0"/>
              <a:t>['</a:t>
            </a:r>
            <a:r>
              <a:rPr lang="en-US" dirty="0" err="1"/>
              <a:t>sname</a:t>
            </a:r>
            <a:r>
              <a:rPr lang="en-US" dirty="0"/>
              <a:t>'],</a:t>
            </a:r>
            <a:r>
              <a:rPr lang="en-US" dirty="0" err="1"/>
              <a:t>u,request.POST</a:t>
            </a:r>
            <a:r>
              <a:rPr lang="en-US" dirty="0"/>
              <a:t>['t1'],</a:t>
            </a:r>
            <a:r>
              <a:rPr lang="en-US" dirty="0" err="1"/>
              <a:t>datetime.now</a:t>
            </a:r>
            <a:r>
              <a:rPr lang="en-US" dirty="0"/>
              <a:t>())</a:t>
            </a:r>
          </a:p>
          <a:p>
            <a:r>
              <a:rPr lang="en-US" dirty="0"/>
              <a:t>    c=</a:t>
            </a:r>
            <a:r>
              <a:rPr lang="en-US" dirty="0" err="1"/>
              <a:t>db</a:t>
            </a:r>
            <a:r>
              <a:rPr lang="en-US" dirty="0"/>
              <a:t>().cursor()</a:t>
            </a:r>
          </a:p>
          <a:p>
            <a:r>
              <a:rPr lang="en-US" dirty="0"/>
              <a:t>    </a:t>
            </a:r>
            <a:r>
              <a:rPr lang="en-US" dirty="0" err="1"/>
              <a:t>c.execute</a:t>
            </a:r>
            <a:r>
              <a:rPr lang="en-US" dirty="0"/>
              <a:t>("INSERT INTO marks VALUES(%</a:t>
            </a:r>
            <a:r>
              <a:rPr lang="en-US" dirty="0" err="1"/>
              <a:t>s,%s,%s,%s</a:t>
            </a:r>
            <a:r>
              <a:rPr lang="en-US" dirty="0"/>
              <a:t>)",d)</a:t>
            </a:r>
          </a:p>
          <a:p>
            <a:r>
              <a:rPr lang="en-US" dirty="0"/>
              <a:t>    </a:t>
            </a:r>
            <a:r>
              <a:rPr lang="en-US" dirty="0" err="1"/>
              <a:t>c.connection.commit</a:t>
            </a:r>
            <a:r>
              <a:rPr lang="en-US" dirty="0"/>
              <a:t>()</a:t>
            </a:r>
          </a:p>
          <a:p>
            <a:endParaRPr lang="en-US" dirty="0"/>
          </a:p>
          <a:p>
            <a:r>
              <a:rPr lang="en-US" dirty="0"/>
              <a:t>def </a:t>
            </a:r>
            <a:r>
              <a:rPr lang="en-US" dirty="0" err="1"/>
              <a:t>SendMessage</a:t>
            </a:r>
            <a:r>
              <a:rPr lang="en-US" dirty="0"/>
              <a:t>(request):</a:t>
            </a:r>
          </a:p>
          <a:p>
            <a:r>
              <a:rPr lang="en-US" dirty="0"/>
              <a:t>    u=</a:t>
            </a:r>
            <a:r>
              <a:rPr lang="en-US" dirty="0" err="1"/>
              <a:t>request.session.get</a:t>
            </a:r>
            <a:r>
              <a:rPr lang="en-US" dirty="0"/>
              <a:t>('</a:t>
            </a:r>
            <a:r>
              <a:rPr lang="en-US" dirty="0" err="1"/>
              <a:t>uname</a:t>
            </a:r>
            <a:r>
              <a:rPr lang="en-US" dirty="0"/>
              <a:t>')</a:t>
            </a:r>
          </a:p>
          <a:p>
            <a:r>
              <a:rPr lang="en-US" dirty="0"/>
              <a:t>    d=(</a:t>
            </a:r>
            <a:r>
              <a:rPr lang="en-US" dirty="0" err="1"/>
              <a:t>u,request.POST</a:t>
            </a:r>
            <a:r>
              <a:rPr lang="en-US" dirty="0"/>
              <a:t>['</a:t>
            </a:r>
            <a:r>
              <a:rPr lang="en-US" dirty="0" err="1"/>
              <a:t>sname</a:t>
            </a:r>
            <a:r>
              <a:rPr lang="en-US" dirty="0"/>
              <a:t>'],</a:t>
            </a:r>
            <a:r>
              <a:rPr lang="en-US" dirty="0" err="1"/>
              <a:t>request.POST</a:t>
            </a:r>
            <a:r>
              <a:rPr lang="en-US" dirty="0"/>
              <a:t>['t1'],</a:t>
            </a:r>
            <a:r>
              <a:rPr lang="en-US" dirty="0" err="1"/>
              <a:t>request.POST</a:t>
            </a:r>
            <a:r>
              <a:rPr lang="en-US" dirty="0"/>
              <a:t>['t2'],</a:t>
            </a:r>
            <a:r>
              <a:rPr lang="en-US" dirty="0" err="1"/>
              <a:t>datetime.now</a:t>
            </a:r>
            <a:r>
              <a:rPr lang="en-US" dirty="0"/>
              <a:t>())</a:t>
            </a:r>
          </a:p>
          <a:p>
            <a:r>
              <a:rPr lang="en-US" dirty="0"/>
              <a:t>    c=</a:t>
            </a:r>
            <a:r>
              <a:rPr lang="en-US" dirty="0" err="1"/>
              <a:t>db</a:t>
            </a:r>
            <a:r>
              <a:rPr lang="en-US" dirty="0"/>
              <a:t>().cursor()</a:t>
            </a:r>
          </a:p>
          <a:p>
            <a:r>
              <a:rPr lang="en-US" dirty="0"/>
              <a:t>    </a:t>
            </a:r>
            <a:r>
              <a:rPr lang="en-US" dirty="0" err="1"/>
              <a:t>c.execute</a:t>
            </a:r>
            <a:r>
              <a:rPr lang="en-US" dirty="0"/>
              <a:t>("INSERT INTO messages VALUES(%</a:t>
            </a:r>
            <a:r>
              <a:rPr lang="en-US" dirty="0" err="1"/>
              <a:t>s,%s,%s,%s,%s</a:t>
            </a:r>
            <a:r>
              <a:rPr lang="en-US" dirty="0"/>
              <a:t>)",d)</a:t>
            </a:r>
          </a:p>
          <a:p>
            <a:r>
              <a:rPr lang="en-US" dirty="0"/>
              <a:t>    </a:t>
            </a:r>
            <a:r>
              <a:rPr lang="en-US" dirty="0" err="1"/>
              <a:t>c.connection.commit</a:t>
            </a:r>
            <a:r>
              <a:rPr lang="en-US" dirty="0"/>
              <a:t>()</a:t>
            </a:r>
          </a:p>
          <a:p>
            <a:endParaRPr lang="en-US" dirty="0"/>
          </a:p>
          <a:p>
            <a:r>
              <a:rPr lang="en-US" dirty="0"/>
              <a:t>def index(request):</a:t>
            </a:r>
          </a:p>
          <a:p>
            <a:r>
              <a:rPr lang="en-US" dirty="0"/>
              <a:t>    return render(request,'index.html')</a:t>
            </a:r>
          </a:p>
        </p:txBody>
      </p:sp>
    </p:spTree>
    <p:extLst>
      <p:ext uri="{BB962C8B-B14F-4D97-AF65-F5344CB8AC3E}">
        <p14:creationId xmlns:p14="http://schemas.microsoft.com/office/powerpoint/2010/main" val="25246511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9E989-25BE-0982-EF07-4DE05A1C0840}"/>
              </a:ext>
            </a:extLst>
          </p:cNvPr>
          <p:cNvSpPr>
            <a:spLocks noGrp="1"/>
          </p:cNvSpPr>
          <p:nvPr>
            <p:ph type="title"/>
          </p:nvPr>
        </p:nvSpPr>
        <p:spPr/>
        <p:txBody>
          <a:bodyPr/>
          <a:lstStyle/>
          <a:p>
            <a:r>
              <a:rPr lang="en-US" dirty="0"/>
              <a:t>RESULTS</a:t>
            </a:r>
          </a:p>
        </p:txBody>
      </p:sp>
      <p:pic>
        <p:nvPicPr>
          <p:cNvPr id="7" name="Content Placeholder 6">
            <a:extLst>
              <a:ext uri="{FF2B5EF4-FFF2-40B4-BE49-F238E27FC236}">
                <a16:creationId xmlns:a16="http://schemas.microsoft.com/office/drawing/2014/main" id="{2FF18B7D-1D26-611B-07CF-525530C9D83B}"/>
              </a:ext>
            </a:extLst>
          </p:cNvPr>
          <p:cNvPicPr>
            <a:picLocks noGrp="1" noChangeAspect="1"/>
          </p:cNvPicPr>
          <p:nvPr>
            <p:ph idx="1"/>
          </p:nvPr>
        </p:nvPicPr>
        <p:blipFill>
          <a:blip r:embed="rId2"/>
          <a:stretch>
            <a:fillRect/>
          </a:stretch>
        </p:blipFill>
        <p:spPr>
          <a:xfrm>
            <a:off x="475236" y="2243937"/>
            <a:ext cx="5019059" cy="2865427"/>
          </a:xfrm>
          <a:prstGeom prst="rect">
            <a:avLst/>
          </a:prstGeom>
        </p:spPr>
      </p:pic>
      <p:pic>
        <p:nvPicPr>
          <p:cNvPr id="8" name="Picture 7">
            <a:extLst>
              <a:ext uri="{FF2B5EF4-FFF2-40B4-BE49-F238E27FC236}">
                <a16:creationId xmlns:a16="http://schemas.microsoft.com/office/drawing/2014/main" id="{35823926-9FFF-E2B2-2EDE-6666EAD94775}"/>
              </a:ext>
            </a:extLst>
          </p:cNvPr>
          <p:cNvPicPr>
            <a:picLocks noChangeAspect="1"/>
          </p:cNvPicPr>
          <p:nvPr/>
        </p:nvPicPr>
        <p:blipFill>
          <a:blip r:embed="rId3"/>
          <a:stretch>
            <a:fillRect/>
          </a:stretch>
        </p:blipFill>
        <p:spPr>
          <a:xfrm>
            <a:off x="6210819" y="2243937"/>
            <a:ext cx="5142981" cy="2865427"/>
          </a:xfrm>
          <a:prstGeom prst="rect">
            <a:avLst/>
          </a:prstGeom>
        </p:spPr>
      </p:pic>
    </p:spTree>
    <p:extLst>
      <p:ext uri="{BB962C8B-B14F-4D97-AF65-F5344CB8AC3E}">
        <p14:creationId xmlns:p14="http://schemas.microsoft.com/office/powerpoint/2010/main" val="4272290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3E655F0-558D-899D-2E44-218B32EDB6A2}"/>
              </a:ext>
            </a:extLst>
          </p:cNvPr>
          <p:cNvPicPr>
            <a:picLocks noGrp="1" noChangeAspect="1"/>
          </p:cNvPicPr>
          <p:nvPr>
            <p:ph idx="1"/>
          </p:nvPr>
        </p:nvPicPr>
        <p:blipFill>
          <a:blip r:embed="rId2"/>
          <a:stretch>
            <a:fillRect/>
          </a:stretch>
        </p:blipFill>
        <p:spPr>
          <a:xfrm>
            <a:off x="253277" y="1857584"/>
            <a:ext cx="5712049" cy="3203147"/>
          </a:xfrm>
          <a:prstGeom prst="rect">
            <a:avLst/>
          </a:prstGeom>
        </p:spPr>
      </p:pic>
      <p:pic>
        <p:nvPicPr>
          <p:cNvPr id="5" name="Picture 4">
            <a:extLst>
              <a:ext uri="{FF2B5EF4-FFF2-40B4-BE49-F238E27FC236}">
                <a16:creationId xmlns:a16="http://schemas.microsoft.com/office/drawing/2014/main" id="{F6169566-8024-B0E6-FBC9-15F2A0D23A45}"/>
              </a:ext>
            </a:extLst>
          </p:cNvPr>
          <p:cNvPicPr>
            <a:picLocks noChangeAspect="1"/>
          </p:cNvPicPr>
          <p:nvPr/>
        </p:nvPicPr>
        <p:blipFill>
          <a:blip r:embed="rId3"/>
          <a:stretch>
            <a:fillRect/>
          </a:stretch>
        </p:blipFill>
        <p:spPr>
          <a:xfrm>
            <a:off x="6344917" y="1842070"/>
            <a:ext cx="5712047" cy="3218661"/>
          </a:xfrm>
          <a:prstGeom prst="rect">
            <a:avLst/>
          </a:prstGeom>
        </p:spPr>
      </p:pic>
    </p:spTree>
    <p:extLst>
      <p:ext uri="{BB962C8B-B14F-4D97-AF65-F5344CB8AC3E}">
        <p14:creationId xmlns:p14="http://schemas.microsoft.com/office/powerpoint/2010/main" val="22261029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37F0C84-2276-1C94-AD23-F0FDF29DAB0D}"/>
              </a:ext>
            </a:extLst>
          </p:cNvPr>
          <p:cNvPicPr>
            <a:picLocks noGrp="1" noChangeAspect="1"/>
          </p:cNvPicPr>
          <p:nvPr>
            <p:ph idx="1"/>
          </p:nvPr>
        </p:nvPicPr>
        <p:blipFill>
          <a:blip r:embed="rId2"/>
          <a:stretch>
            <a:fillRect/>
          </a:stretch>
        </p:blipFill>
        <p:spPr>
          <a:xfrm>
            <a:off x="141149" y="2256876"/>
            <a:ext cx="5569604" cy="3158579"/>
          </a:xfrm>
          <a:prstGeom prst="rect">
            <a:avLst/>
          </a:prstGeom>
        </p:spPr>
      </p:pic>
      <p:pic>
        <p:nvPicPr>
          <p:cNvPr id="5" name="Picture 4">
            <a:extLst>
              <a:ext uri="{FF2B5EF4-FFF2-40B4-BE49-F238E27FC236}">
                <a16:creationId xmlns:a16="http://schemas.microsoft.com/office/drawing/2014/main" id="{6FBCBCE1-BB17-900C-5FAE-E97A9ACB576F}"/>
              </a:ext>
            </a:extLst>
          </p:cNvPr>
          <p:cNvPicPr>
            <a:picLocks noChangeAspect="1"/>
          </p:cNvPicPr>
          <p:nvPr/>
        </p:nvPicPr>
        <p:blipFill>
          <a:blip r:embed="rId3"/>
          <a:stretch>
            <a:fillRect/>
          </a:stretch>
        </p:blipFill>
        <p:spPr>
          <a:xfrm>
            <a:off x="6096000" y="2180348"/>
            <a:ext cx="5688724" cy="3202659"/>
          </a:xfrm>
          <a:prstGeom prst="rect">
            <a:avLst/>
          </a:prstGeom>
        </p:spPr>
      </p:pic>
    </p:spTree>
    <p:extLst>
      <p:ext uri="{BB962C8B-B14F-4D97-AF65-F5344CB8AC3E}">
        <p14:creationId xmlns:p14="http://schemas.microsoft.com/office/powerpoint/2010/main" val="16379400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A4716-BA69-90CC-DB3C-AF214E5CDDD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200A6D0B-31C9-4BF3-D6EA-95B6727DCC75}"/>
              </a:ext>
            </a:extLst>
          </p:cNvPr>
          <p:cNvSpPr>
            <a:spLocks noGrp="1"/>
          </p:cNvSpPr>
          <p:nvPr>
            <p:ph idx="1"/>
          </p:nvPr>
        </p:nvSpPr>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The Student Performance Predictor provides a data-driven solution for analyzing and predicting student academic performance using factors such as marks, attendance, and other related data. By applying machine learning techniques, the system helps educational institutions identify students who may be at risk of poor performance at an early stage. This allows teachers and administrators to take timely actions and provide proper academic </a:t>
            </a:r>
            <a:r>
              <a:rPr lang="en-US" sz="2000" dirty="0" err="1">
                <a:latin typeface="Times New Roman" panose="02020603050405020304" pitchFamily="18" charset="0"/>
                <a:cs typeface="Times New Roman" panose="02020603050405020304" pitchFamily="18" charset="0"/>
              </a:rPr>
              <a:t>support.The</a:t>
            </a:r>
            <a:r>
              <a:rPr lang="en-US" sz="2000" dirty="0">
                <a:latin typeface="Times New Roman" panose="02020603050405020304" pitchFamily="18" charset="0"/>
                <a:cs typeface="Times New Roman" panose="02020603050405020304" pitchFamily="18" charset="0"/>
              </a:rPr>
              <a:t> system also helps educators understand performance patterns and make better decisions to improve teaching strategies and learning outcomes. In the future, the model can be further improved by integrating advanced technologies such as deep learning, real-time monitoring, and AI-based learning </a:t>
            </a:r>
            <a:r>
              <a:rPr lang="en-US" sz="2000" dirty="0" err="1">
                <a:latin typeface="Times New Roman" panose="02020603050405020304" pitchFamily="18" charset="0"/>
                <a:cs typeface="Times New Roman" panose="02020603050405020304" pitchFamily="18" charset="0"/>
              </a:rPr>
              <a:t>recommendations.Overall</a:t>
            </a:r>
            <a:r>
              <a:rPr lang="en-US" sz="2000" dirty="0">
                <a:latin typeface="Times New Roman" panose="02020603050405020304" pitchFamily="18" charset="0"/>
                <a:cs typeface="Times New Roman" panose="02020603050405020304" pitchFamily="18" charset="0"/>
              </a:rPr>
              <a:t>, this system can support educational institutions in improving student success rates, reducing dropout risks, and promoting a more effective and data-driven learning environment.</a:t>
            </a:r>
          </a:p>
          <a:p>
            <a:pPr marL="0" indent="0" algn="just">
              <a:buNone/>
            </a:pPr>
            <a:endParaRPr lang="en-IN" dirty="0"/>
          </a:p>
        </p:txBody>
      </p:sp>
    </p:spTree>
    <p:extLst>
      <p:ext uri="{BB962C8B-B14F-4D97-AF65-F5344CB8AC3E}">
        <p14:creationId xmlns:p14="http://schemas.microsoft.com/office/powerpoint/2010/main" val="12585876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F3556-BC71-8D05-5FEB-98BA7D67A632}"/>
              </a:ext>
            </a:extLst>
          </p:cNvPr>
          <p:cNvSpPr>
            <a:spLocks noGrp="1"/>
          </p:cNvSpPr>
          <p:nvPr>
            <p:ph type="title"/>
          </p:nvPr>
        </p:nvSpPr>
        <p:spPr>
          <a:xfrm>
            <a:off x="838200" y="380624"/>
            <a:ext cx="10515600" cy="1325563"/>
          </a:xfrm>
        </p:spPr>
        <p:txBody>
          <a:bodyPr/>
          <a:lstStyle/>
          <a:p>
            <a:r>
              <a:rPr lang="en-US" dirty="0"/>
              <a:t>FUTURE ENHANCEMENT</a:t>
            </a:r>
          </a:p>
        </p:txBody>
      </p:sp>
      <p:sp>
        <p:nvSpPr>
          <p:cNvPr id="3" name="Content Placeholder 2">
            <a:extLst>
              <a:ext uri="{FF2B5EF4-FFF2-40B4-BE49-F238E27FC236}">
                <a16:creationId xmlns:a16="http://schemas.microsoft.com/office/drawing/2014/main" id="{9928159D-2CE4-B0FA-D11B-8613A1BF0DEF}"/>
              </a:ext>
            </a:extLst>
          </p:cNvPr>
          <p:cNvSpPr>
            <a:spLocks noGrp="1"/>
          </p:cNvSpPr>
          <p:nvPr>
            <p:ph idx="1"/>
          </p:nvPr>
        </p:nvSpPr>
        <p:spPr>
          <a:xfrm>
            <a:off x="838200" y="1534333"/>
            <a:ext cx="10515600" cy="4720122"/>
          </a:xfrm>
        </p:spPr>
        <p:txBody>
          <a:bodyPr>
            <a:normAutofit fontScale="85000" lnSpcReduction="20000"/>
          </a:bodyPr>
          <a:lstStyle/>
          <a:p>
            <a:r>
              <a:rPr lang="en-IN" dirty="0"/>
              <a:t>The Student Performance Predictor and Tracker system can be enhanced by integrating real-time data from student records such as attendance, marks, and online learning platforms. This will help in providing more accurate and up-to-date predictions. The use of advanced machine learning and deep learning techniques can further improve prediction accuracy by identifying complex patterns and relationships in student data. Expanding the dataset and improving data quality can also make the system more reliable and effective.</a:t>
            </a:r>
            <a:endParaRPr lang="en-US" dirty="0"/>
          </a:p>
          <a:p>
            <a:r>
              <a:rPr lang="en-IN" dirty="0"/>
              <a:t>The system can be extended to provide personalized learning recommendations based on individual student performance, helping teachers adjust their teaching strategies. It can also generate automatic alerts to identify at-risk students, enabling timely intervention and support. In the future, the system can be developed as a mobile or cloud-based application for easy access by students, teachers, and parents. Adding features like student engagement analysis and ensuring fairness in predictions will further improve the overall performance and usefulness of the system.</a:t>
            </a:r>
            <a:endParaRPr lang="en-US" dirty="0"/>
          </a:p>
          <a:p>
            <a:endParaRPr lang="en-US" dirty="0"/>
          </a:p>
        </p:txBody>
      </p:sp>
    </p:spTree>
    <p:extLst>
      <p:ext uri="{BB962C8B-B14F-4D97-AF65-F5344CB8AC3E}">
        <p14:creationId xmlns:p14="http://schemas.microsoft.com/office/powerpoint/2010/main" val="25545500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86A7C-BA00-7BEB-4BCF-298204B04ACB}"/>
              </a:ext>
            </a:extLst>
          </p:cNvPr>
          <p:cNvSpPr>
            <a:spLocks noGrp="1"/>
          </p:cNvSpPr>
          <p:nvPr>
            <p:ph type="title"/>
          </p:nvPr>
        </p:nvSpPr>
        <p:spPr>
          <a:xfrm>
            <a:off x="838200" y="365126"/>
            <a:ext cx="10515600" cy="651912"/>
          </a:xfrm>
        </p:spPr>
        <p:txBody>
          <a:bodyPr>
            <a:normAutofit fontScale="90000"/>
          </a:bodyPr>
          <a:lstStyle/>
          <a:p>
            <a:r>
              <a:rPr lang="en-IN" dirty="0">
                <a:latin typeface="Times New Roman" panose="02020603050405020304" pitchFamily="18" charset="0"/>
                <a:cs typeface="Times New Roman" panose="02020603050405020304" pitchFamily="18" charset="0"/>
              </a:rPr>
              <a:t>References:</a:t>
            </a:r>
            <a:br>
              <a:rPr lang="en-IN" dirty="0"/>
            </a:br>
            <a:endParaRPr lang="en-IN" dirty="0"/>
          </a:p>
        </p:txBody>
      </p:sp>
      <p:sp>
        <p:nvSpPr>
          <p:cNvPr id="3" name="Content Placeholder 2">
            <a:extLst>
              <a:ext uri="{FF2B5EF4-FFF2-40B4-BE49-F238E27FC236}">
                <a16:creationId xmlns:a16="http://schemas.microsoft.com/office/drawing/2014/main" id="{3FE7E8EA-2675-0AFA-19AA-5A945F02C645}"/>
              </a:ext>
            </a:extLst>
          </p:cNvPr>
          <p:cNvSpPr>
            <a:spLocks noGrp="1"/>
          </p:cNvSpPr>
          <p:nvPr>
            <p:ph idx="1"/>
          </p:nvPr>
        </p:nvSpPr>
        <p:spPr>
          <a:xfrm>
            <a:off x="718457" y="942392"/>
            <a:ext cx="10635343" cy="5645020"/>
          </a:xfrm>
        </p:spPr>
        <p:txBody>
          <a:bodyPr>
            <a:normAutofit fontScale="85000" lnSpcReduction="20000"/>
          </a:bodyPr>
          <a:lstStyle/>
          <a:p>
            <a:r>
              <a:rPr lang="en-US" sz="2400" dirty="0">
                <a:latin typeface="Times New Roman" panose="02020603050405020304" pitchFamily="18" charset="0"/>
                <a:cs typeface="Times New Roman" panose="02020603050405020304" pitchFamily="18" charset="0"/>
              </a:rPr>
              <a:t>Ahmed, W., Wani, M. A., </a:t>
            </a:r>
            <a:r>
              <a:rPr lang="en-US" sz="2400" dirty="0" err="1">
                <a:latin typeface="Times New Roman" panose="02020603050405020304" pitchFamily="18" charset="0"/>
                <a:cs typeface="Times New Roman" panose="02020603050405020304" pitchFamily="18" charset="0"/>
              </a:rPr>
              <a:t>Plawiak</a:t>
            </a:r>
            <a:r>
              <a:rPr lang="en-US" sz="2400" dirty="0">
                <a:latin typeface="Times New Roman" panose="02020603050405020304" pitchFamily="18" charset="0"/>
                <a:cs typeface="Times New Roman" panose="02020603050405020304" pitchFamily="18" charset="0"/>
              </a:rPr>
              <a:t>, P., </a:t>
            </a:r>
            <a:r>
              <a:rPr lang="en-US" sz="2400" dirty="0" err="1">
                <a:latin typeface="Times New Roman" panose="02020603050405020304" pitchFamily="18" charset="0"/>
                <a:cs typeface="Times New Roman" panose="02020603050405020304" pitchFamily="18" charset="0"/>
              </a:rPr>
              <a:t>Meshoul</a:t>
            </a:r>
            <a:r>
              <a:rPr lang="en-US" sz="2400" dirty="0">
                <a:latin typeface="Times New Roman" panose="02020603050405020304" pitchFamily="18" charset="0"/>
                <a:cs typeface="Times New Roman" panose="02020603050405020304" pitchFamily="18" charset="0"/>
              </a:rPr>
              <a:t>, S., &amp; Hammad, M. (2025). Machine learning-based academic performance prediction with explainability. </a:t>
            </a:r>
            <a:r>
              <a:rPr lang="en-US" sz="2400" i="1" dirty="0">
                <a:latin typeface="Times New Roman" panose="02020603050405020304" pitchFamily="18" charset="0"/>
                <a:cs typeface="Times New Roman" panose="02020603050405020304" pitchFamily="18" charset="0"/>
              </a:rPr>
              <a:t>Scientific Reports</a:t>
            </a:r>
            <a:r>
              <a:rPr lang="en-US" sz="2400" dirty="0">
                <a:latin typeface="Times New Roman" panose="02020603050405020304" pitchFamily="18" charset="0"/>
                <a:cs typeface="Times New Roman" panose="02020603050405020304" pitchFamily="18" charset="0"/>
              </a:rPr>
              <a:t>, 15, 26879.</a:t>
            </a:r>
          </a:p>
          <a:p>
            <a:r>
              <a:rPr lang="en-US" sz="2400" dirty="0">
                <a:latin typeface="Times New Roman" panose="02020603050405020304" pitchFamily="18" charset="0"/>
                <a:cs typeface="Times New Roman" panose="02020603050405020304" pitchFamily="18" charset="0"/>
              </a:rPr>
              <a:t>Gul, M. N., Abbasi, W., &amp; Wani, M. Y. (2025). Machine learning mechanism for predicting student performance. </a:t>
            </a:r>
            <a:r>
              <a:rPr lang="en-US" sz="2400" i="1" dirty="0">
                <a:latin typeface="Times New Roman" panose="02020603050405020304" pitchFamily="18" charset="0"/>
                <a:cs typeface="Times New Roman" panose="02020603050405020304" pitchFamily="18" charset="0"/>
              </a:rPr>
              <a:t>Journal of Electrical Systems and Information Technology</a:t>
            </a:r>
            <a:r>
              <a:rPr lang="en-US" sz="2400" dirty="0">
                <a:latin typeface="Times New Roman" panose="02020603050405020304" pitchFamily="18" charset="0"/>
                <a:cs typeface="Times New Roman" panose="02020603050405020304" pitchFamily="18" charset="0"/>
              </a:rPr>
              <a:t>, 12, 32.</a:t>
            </a:r>
          </a:p>
          <a:p>
            <a:r>
              <a:rPr lang="en-US" sz="2400" dirty="0">
                <a:latin typeface="Times New Roman" panose="02020603050405020304" pitchFamily="18" charset="0"/>
                <a:cs typeface="Times New Roman" panose="02020603050405020304" pitchFamily="18" charset="0"/>
              </a:rPr>
              <a:t>Wang, C., &amp; Yao, S. (2025). Enhancing student dropout and academic success prediction using machine learning. </a:t>
            </a:r>
            <a:r>
              <a:rPr lang="en-US" sz="2400" i="1" dirty="0">
                <a:latin typeface="Times New Roman" panose="02020603050405020304" pitchFamily="18" charset="0"/>
                <a:cs typeface="Times New Roman" panose="02020603050405020304" pitchFamily="18" charset="0"/>
              </a:rPr>
              <a:t>ICCK Transactions on Educational Data Mining</a:t>
            </a:r>
            <a:r>
              <a:rPr lang="en-US" sz="2400" dirty="0">
                <a:latin typeface="Times New Roman" panose="02020603050405020304" pitchFamily="18" charset="0"/>
                <a:cs typeface="Times New Roman" panose="02020603050405020304" pitchFamily="18" charset="0"/>
              </a:rPr>
              <a:t>, 1(1), 36–43.</a:t>
            </a:r>
          </a:p>
          <a:p>
            <a:r>
              <a:rPr lang="en-IN" sz="2400" dirty="0">
                <a:latin typeface="Times New Roman" panose="02020603050405020304" pitchFamily="18" charset="0"/>
                <a:cs typeface="Times New Roman" panose="02020603050405020304" pitchFamily="18" charset="0"/>
              </a:rPr>
              <a:t>Zhang, H., Ren, Y., </a:t>
            </a:r>
            <a:r>
              <a:rPr lang="en-IN" sz="2400" dirty="0" err="1">
                <a:latin typeface="Times New Roman" panose="02020603050405020304" pitchFamily="18" charset="0"/>
                <a:cs typeface="Times New Roman" panose="02020603050405020304" pitchFamily="18" charset="0"/>
              </a:rPr>
              <a:t>Nurius</a:t>
            </a:r>
            <a:r>
              <a:rPr lang="en-IN" sz="2400" dirty="0">
                <a:latin typeface="Times New Roman" panose="02020603050405020304" pitchFamily="18" charset="0"/>
                <a:cs typeface="Times New Roman" panose="02020603050405020304" pitchFamily="18" charset="0"/>
              </a:rPr>
              <a:t>, P. S., Mankoff, J., &amp; Dey, A. K. (2025). Early prediction models for academic performance. </a:t>
            </a:r>
            <a:r>
              <a:rPr lang="en-IN" sz="2400" i="1" dirty="0" err="1">
                <a:latin typeface="Times New Roman" panose="02020603050405020304" pitchFamily="18" charset="0"/>
                <a:cs typeface="Times New Roman" panose="02020603050405020304" pitchFamily="18" charset="0"/>
              </a:rPr>
              <a:t>arXiv</a:t>
            </a:r>
            <a:r>
              <a:rPr lang="en-IN" sz="2400" i="1" dirty="0">
                <a:latin typeface="Times New Roman" panose="02020603050405020304" pitchFamily="18" charset="0"/>
                <a:cs typeface="Times New Roman" panose="02020603050405020304" pitchFamily="18" charset="0"/>
              </a:rPr>
              <a:t> preprint arXiv:2504.12236</a:t>
            </a:r>
            <a:r>
              <a:rPr lang="en-IN"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Tiwari, M., &amp; Jain, N. (2024). Student performance prediction using machine learning algorithms. </a:t>
            </a:r>
            <a:r>
              <a:rPr lang="en-US" sz="2400" i="1" dirty="0" err="1">
                <a:latin typeface="Times New Roman" panose="02020603050405020304" pitchFamily="18" charset="0"/>
                <a:cs typeface="Times New Roman" panose="02020603050405020304" pitchFamily="18" charset="0"/>
              </a:rPr>
              <a:t>ShodhKosh</a:t>
            </a:r>
            <a:r>
              <a:rPr lang="en-US" sz="2400" i="1" dirty="0">
                <a:latin typeface="Times New Roman" panose="02020603050405020304" pitchFamily="18" charset="0"/>
                <a:cs typeface="Times New Roman" panose="02020603050405020304" pitchFamily="18" charset="0"/>
              </a:rPr>
              <a:t> Journal</a:t>
            </a:r>
            <a:r>
              <a:rPr lang="en-US" sz="2400" dirty="0">
                <a:latin typeface="Times New Roman" panose="02020603050405020304" pitchFamily="18" charset="0"/>
                <a:cs typeface="Times New Roman" panose="02020603050405020304" pitchFamily="18" charset="0"/>
              </a:rPr>
              <a:t>, 5(6), 1112–1122.</a:t>
            </a:r>
          </a:p>
          <a:p>
            <a:r>
              <a:rPr lang="en-US" sz="2400" dirty="0">
                <a:latin typeface="Times New Roman" panose="02020603050405020304" pitchFamily="18" charset="0"/>
                <a:cs typeface="Times New Roman" panose="02020603050405020304" pitchFamily="18" charset="0"/>
              </a:rPr>
              <a:t>ang, B., Li, S., &amp; Zhao, C. (2024). Predicting student performance using deep ensemble learning. </a:t>
            </a:r>
            <a:r>
              <a:rPr lang="en-US" sz="2400" i="1" dirty="0">
                <a:latin typeface="Times New Roman" panose="02020603050405020304" pitchFamily="18" charset="0"/>
                <a:cs typeface="Times New Roman" panose="02020603050405020304" pitchFamily="18" charset="0"/>
              </a:rPr>
              <a:t>Journal of Intelligence</a:t>
            </a:r>
            <a:r>
              <a:rPr lang="en-US" sz="2400" dirty="0">
                <a:latin typeface="Times New Roman" panose="02020603050405020304" pitchFamily="18" charset="0"/>
                <a:cs typeface="Times New Roman" panose="02020603050405020304" pitchFamily="18" charset="0"/>
              </a:rPr>
              <a:t>, 12(12), 124.</a:t>
            </a:r>
          </a:p>
          <a:p>
            <a:r>
              <a:rPr lang="en-US" sz="2400" dirty="0">
                <a:latin typeface="Times New Roman" panose="02020603050405020304" pitchFamily="18" charset="0"/>
                <a:cs typeface="Times New Roman" panose="02020603050405020304" pitchFamily="18" charset="0"/>
              </a:rPr>
              <a:t>Zhu, X. (2024). Prediction and analysis of university student performance using machine learning. </a:t>
            </a:r>
            <a:r>
              <a:rPr lang="en-US" sz="2400" i="1" dirty="0">
                <a:latin typeface="Times New Roman" panose="02020603050405020304" pitchFamily="18" charset="0"/>
                <a:cs typeface="Times New Roman" panose="02020603050405020304" pitchFamily="18" charset="0"/>
              </a:rPr>
              <a:t>Academic Journal of Computing &amp; Information Science</a:t>
            </a:r>
            <a:r>
              <a:rPr lang="en-US" sz="2400" dirty="0">
                <a:latin typeface="Times New Roman" panose="02020603050405020304" pitchFamily="18" charset="0"/>
                <a:cs typeface="Times New Roman" panose="02020603050405020304" pitchFamily="18" charset="0"/>
              </a:rPr>
              <a:t>, 7(8), 79–86.</a:t>
            </a:r>
          </a:p>
          <a:p>
            <a:r>
              <a:rPr lang="en-IN" sz="2400" dirty="0">
                <a:latin typeface="Times New Roman" panose="02020603050405020304" pitchFamily="18" charset="0"/>
                <a:cs typeface="Times New Roman" panose="02020603050405020304" pitchFamily="18" charset="0"/>
              </a:rPr>
              <a:t>Al-Sarem, M., Saeed, F., Al-Hadhrami, T., &amp; </a:t>
            </a:r>
            <a:r>
              <a:rPr lang="en-IN" sz="2400" dirty="0" err="1">
                <a:latin typeface="Times New Roman" panose="02020603050405020304" pitchFamily="18" charset="0"/>
                <a:cs typeface="Times New Roman" panose="02020603050405020304" pitchFamily="18" charset="0"/>
              </a:rPr>
              <a:t>Boulila</a:t>
            </a:r>
            <a:r>
              <a:rPr lang="en-IN" sz="2400" dirty="0">
                <a:latin typeface="Times New Roman" panose="02020603050405020304" pitchFamily="18" charset="0"/>
                <a:cs typeface="Times New Roman" panose="02020603050405020304" pitchFamily="18" charset="0"/>
              </a:rPr>
              <a:t>, W. (2023). Intelligent system for predicting student performance using ML algorithms. </a:t>
            </a:r>
            <a:r>
              <a:rPr lang="en-IN" sz="2400" i="1" dirty="0">
                <a:latin typeface="Times New Roman" panose="02020603050405020304" pitchFamily="18" charset="0"/>
                <a:cs typeface="Times New Roman" panose="02020603050405020304" pitchFamily="18" charset="0"/>
              </a:rPr>
              <a:t>Baghdad Science Journal</a:t>
            </a:r>
            <a:r>
              <a:rPr lang="en-IN" sz="2400" dirty="0">
                <a:latin typeface="Times New Roman" panose="02020603050405020304" pitchFamily="18" charset="0"/>
                <a:cs typeface="Times New Roman" panose="02020603050405020304" pitchFamily="18" charset="0"/>
              </a:rPr>
              <a:t>, 21(12), 3877–3891.</a:t>
            </a:r>
          </a:p>
          <a:p>
            <a:r>
              <a:rPr lang="en-US" sz="2400" dirty="0">
                <a:latin typeface="Times New Roman" panose="02020603050405020304" pitchFamily="18" charset="0"/>
                <a:cs typeface="Times New Roman" panose="02020603050405020304" pitchFamily="18" charset="0"/>
              </a:rPr>
              <a:t>Waheed, H., Hassan, S., </a:t>
            </a:r>
            <a:r>
              <a:rPr lang="en-US" sz="2400" dirty="0" err="1">
                <a:latin typeface="Times New Roman" panose="02020603050405020304" pitchFamily="18" charset="0"/>
                <a:cs typeface="Times New Roman" panose="02020603050405020304" pitchFamily="18" charset="0"/>
              </a:rPr>
              <a:t>Aljohani</a:t>
            </a:r>
            <a:r>
              <a:rPr lang="en-US" sz="2400" dirty="0">
                <a:latin typeface="Times New Roman" panose="02020603050405020304" pitchFamily="18" charset="0"/>
                <a:cs typeface="Times New Roman" panose="02020603050405020304" pitchFamily="18" charset="0"/>
              </a:rPr>
              <a:t>, N., &amp; Hardman, J. (2022). Predicting student performance using educational data mining. </a:t>
            </a:r>
            <a:r>
              <a:rPr lang="en-US" sz="2400" i="1" dirty="0">
                <a:latin typeface="Times New Roman" panose="02020603050405020304" pitchFamily="18" charset="0"/>
                <a:cs typeface="Times New Roman" panose="02020603050405020304" pitchFamily="18" charset="0"/>
              </a:rPr>
              <a:t>Computers &amp; Education</a:t>
            </a:r>
            <a:r>
              <a:rPr lang="en-US" sz="2400" dirty="0">
                <a:latin typeface="Times New Roman" panose="02020603050405020304" pitchFamily="18" charset="0"/>
                <a:cs typeface="Times New Roman" panose="02020603050405020304" pitchFamily="18" charset="0"/>
              </a:rPr>
              <a:t>, 168, 104–115.</a:t>
            </a:r>
          </a:p>
          <a:p>
            <a:r>
              <a:rPr lang="en-US" sz="2400" dirty="0" err="1">
                <a:latin typeface="Times New Roman" panose="02020603050405020304" pitchFamily="18" charset="0"/>
                <a:cs typeface="Times New Roman" panose="02020603050405020304" pitchFamily="18" charset="0"/>
              </a:rPr>
              <a:t>Albreiki</a:t>
            </a:r>
            <a:r>
              <a:rPr lang="en-US" sz="2400" dirty="0">
                <a:latin typeface="Times New Roman" panose="02020603050405020304" pitchFamily="18" charset="0"/>
                <a:cs typeface="Times New Roman" panose="02020603050405020304" pitchFamily="18" charset="0"/>
              </a:rPr>
              <a:t>, B., Zaki, N., &amp; </a:t>
            </a:r>
            <a:r>
              <a:rPr lang="en-US" sz="2400" dirty="0" err="1">
                <a:latin typeface="Times New Roman" panose="02020603050405020304" pitchFamily="18" charset="0"/>
                <a:cs typeface="Times New Roman" panose="02020603050405020304" pitchFamily="18" charset="0"/>
              </a:rPr>
              <a:t>Alashwal</a:t>
            </a:r>
            <a:r>
              <a:rPr lang="en-US" sz="2400" dirty="0">
                <a:latin typeface="Times New Roman" panose="02020603050405020304" pitchFamily="18" charset="0"/>
                <a:cs typeface="Times New Roman" panose="02020603050405020304" pitchFamily="18" charset="0"/>
              </a:rPr>
              <a:t>, H. (2021). Student performance prediction using machine learning techniques: A review. </a:t>
            </a:r>
            <a:r>
              <a:rPr lang="en-US" sz="2400" i="1" dirty="0">
                <a:latin typeface="Times New Roman" panose="02020603050405020304" pitchFamily="18" charset="0"/>
                <a:cs typeface="Times New Roman" panose="02020603050405020304" pitchFamily="18" charset="0"/>
              </a:rPr>
              <a:t>Education Sciences</a:t>
            </a:r>
            <a:r>
              <a:rPr lang="en-US" sz="2400" dirty="0">
                <a:latin typeface="Times New Roman" panose="02020603050405020304" pitchFamily="18" charset="0"/>
                <a:cs typeface="Times New Roman" panose="02020603050405020304" pitchFamily="18" charset="0"/>
              </a:rPr>
              <a:t>, 11(9), 552.</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96982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F961D-6519-6A58-F0E2-FBA9D0923921}"/>
              </a:ext>
            </a:extLst>
          </p:cNvPr>
          <p:cNvSpPr>
            <a:spLocks noGrp="1"/>
          </p:cNvSpPr>
          <p:nvPr>
            <p:ph type="title"/>
          </p:nvPr>
        </p:nvSpPr>
        <p:spPr/>
        <p:txBody>
          <a:bodyPr/>
          <a:lstStyle/>
          <a:p>
            <a:r>
              <a:rPr lang="en-US" dirty="0"/>
              <a:t>GIT HUB LINK</a:t>
            </a:r>
          </a:p>
        </p:txBody>
      </p:sp>
      <p:sp>
        <p:nvSpPr>
          <p:cNvPr id="3" name="Content Placeholder 2">
            <a:extLst>
              <a:ext uri="{FF2B5EF4-FFF2-40B4-BE49-F238E27FC236}">
                <a16:creationId xmlns:a16="http://schemas.microsoft.com/office/drawing/2014/main" id="{9594CC01-110C-8340-D45D-CBB01F668270}"/>
              </a:ext>
            </a:extLst>
          </p:cNvPr>
          <p:cNvSpPr>
            <a:spLocks noGrp="1"/>
          </p:cNvSpPr>
          <p:nvPr>
            <p:ph idx="1"/>
          </p:nvPr>
        </p:nvSpPr>
        <p:spPr/>
        <p:txBody>
          <a:bodyPr/>
          <a:lstStyle/>
          <a:p>
            <a:r>
              <a:rPr lang="en-US" dirty="0"/>
              <a:t>https://github.com/akshayamogili06-ship-it/student-performance-and-tracker</a:t>
            </a:r>
          </a:p>
        </p:txBody>
      </p:sp>
    </p:spTree>
    <p:extLst>
      <p:ext uri="{BB962C8B-B14F-4D97-AF65-F5344CB8AC3E}">
        <p14:creationId xmlns:p14="http://schemas.microsoft.com/office/powerpoint/2010/main" val="34526808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8994E-41C1-BFBF-1B7B-70628CD6A453}"/>
              </a:ext>
            </a:extLst>
          </p:cNvPr>
          <p:cNvSpPr>
            <a:spLocks noGrp="1"/>
          </p:cNvSpPr>
          <p:nvPr>
            <p:ph type="title"/>
          </p:nvPr>
        </p:nvSpPr>
        <p:spPr>
          <a:xfrm>
            <a:off x="4503420" y="2766218"/>
            <a:ext cx="3185160" cy="1325563"/>
          </a:xfrm>
        </p:spPr>
        <p:txBody>
          <a:bodyPr/>
          <a:lstStyle/>
          <a:p>
            <a:r>
              <a:rPr lang="en-US" b="1" dirty="0"/>
              <a:t>Thank you!!</a:t>
            </a:r>
            <a:endParaRPr lang="en-IN" b="1" dirty="0"/>
          </a:p>
        </p:txBody>
      </p:sp>
    </p:spTree>
    <p:extLst>
      <p:ext uri="{BB962C8B-B14F-4D97-AF65-F5344CB8AC3E}">
        <p14:creationId xmlns:p14="http://schemas.microsoft.com/office/powerpoint/2010/main" val="218149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551</TotalTime>
  <Words>2387</Words>
  <Application>Microsoft Office PowerPoint</Application>
  <PresentationFormat>Widescreen</PresentationFormat>
  <Paragraphs>138</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Aptos Display</vt:lpstr>
      <vt:lpstr>Arial</vt:lpstr>
      <vt:lpstr>Times New Roman</vt:lpstr>
      <vt:lpstr>Office Theme</vt:lpstr>
      <vt:lpstr>Presented By: Batch-15 M.Akshaya(247R1A05W4) M.Abhiram(247R1A05V8) Shiven.K(247R1A05Y2)</vt:lpstr>
      <vt:lpstr>Abstract:</vt:lpstr>
      <vt:lpstr>Existing System:</vt:lpstr>
      <vt:lpstr>Disadvantages of Existing System:</vt:lpstr>
      <vt:lpstr>Proposed System:</vt:lpstr>
      <vt:lpstr>Advantages of Proposed System:</vt:lpstr>
      <vt:lpstr>Hardware Requirements:</vt:lpstr>
      <vt:lpstr>Novelty:</vt:lpstr>
      <vt:lpstr>Architecture:</vt:lpstr>
      <vt:lpstr>Modules:</vt:lpstr>
      <vt:lpstr>UML Diagrams:</vt:lpstr>
      <vt:lpstr>Class Diagram:</vt:lpstr>
      <vt:lpstr>Sequence Diagram:</vt:lpstr>
      <vt:lpstr>SOURCE CODE</vt:lpstr>
      <vt:lpstr>PowerPoint Presentation</vt:lpstr>
      <vt:lpstr>RESULTS</vt:lpstr>
      <vt:lpstr>PowerPoint Presentation</vt:lpstr>
      <vt:lpstr>PowerPoint Presentation</vt:lpstr>
      <vt:lpstr>Conclusion:</vt:lpstr>
      <vt:lpstr>FUTURE ENHANCEMENT</vt:lpstr>
      <vt:lpstr>References: </vt:lpstr>
      <vt:lpstr>GIT HUB LINK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thrishayadav64@gmail.com</dc:creator>
  <cp:lastModifiedBy>akshaya.mogili06@outlook.com</cp:lastModifiedBy>
  <cp:revision>13</cp:revision>
  <dcterms:created xsi:type="dcterms:W3CDTF">2026-03-12T16:30:55Z</dcterms:created>
  <dcterms:modified xsi:type="dcterms:W3CDTF">2026-03-28T05:34:00Z</dcterms:modified>
</cp:coreProperties>
</file>